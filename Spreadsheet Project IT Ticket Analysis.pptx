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480683" y="1310424"/>
            <a:ext cx="5191759" cy="3652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32835"/>
            <a:ext cx="103581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291" y="1550758"/>
            <a:ext cx="4943475" cy="221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8393" y="758297"/>
            <a:ext cx="6883400" cy="1671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46100" marR="5080" indent="-534035">
              <a:lnSpc>
                <a:spcPct val="100000"/>
              </a:lnSpc>
              <a:spcBef>
                <a:spcPts val="100"/>
              </a:spcBef>
              <a:tabLst>
                <a:tab pos="1345565" algn="l"/>
                <a:tab pos="3518535" algn="l"/>
                <a:tab pos="4316730" algn="l"/>
              </a:tabLst>
            </a:pPr>
            <a:r>
              <a:rPr dirty="0" sz="5400" spc="-10" b="1">
                <a:latin typeface="Arial"/>
                <a:cs typeface="Arial"/>
              </a:rPr>
              <a:t>Spreadsheet</a:t>
            </a:r>
            <a:r>
              <a:rPr dirty="0" sz="5400" b="1">
                <a:latin typeface="Arial"/>
                <a:cs typeface="Arial"/>
              </a:rPr>
              <a:t>	</a:t>
            </a:r>
            <a:r>
              <a:rPr dirty="0" sz="5400" spc="-10" b="1">
                <a:latin typeface="Arial"/>
                <a:cs typeface="Arial"/>
              </a:rPr>
              <a:t>Project: </a:t>
            </a:r>
            <a:r>
              <a:rPr dirty="0" sz="5400" spc="-25" b="1">
                <a:latin typeface="Arial"/>
                <a:cs typeface="Arial"/>
              </a:rPr>
              <a:t>IT</a:t>
            </a:r>
            <a:r>
              <a:rPr dirty="0" sz="5400" b="1">
                <a:latin typeface="Arial"/>
                <a:cs typeface="Arial"/>
              </a:rPr>
              <a:t>	</a:t>
            </a:r>
            <a:r>
              <a:rPr dirty="0" sz="5400" spc="-10" b="1">
                <a:latin typeface="Arial"/>
                <a:cs typeface="Arial"/>
              </a:rPr>
              <a:t>Ticket</a:t>
            </a:r>
            <a:r>
              <a:rPr dirty="0" sz="5400" b="1">
                <a:latin typeface="Arial"/>
                <a:cs typeface="Arial"/>
              </a:rPr>
              <a:t>	</a:t>
            </a:r>
            <a:r>
              <a:rPr dirty="0" sz="5400" spc="-10" b="1">
                <a:latin typeface="Arial"/>
                <a:cs typeface="Arial"/>
              </a:rPr>
              <a:t>Analysis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0"/>
              <a:t>Agenda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1043939" y="1851659"/>
            <a:ext cx="3747770" cy="497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29565">
              <a:lnSpc>
                <a:spcPct val="100000"/>
              </a:lnSpc>
              <a:spcBef>
                <a:spcPts val="100"/>
              </a:spcBef>
              <a:buSzPct val="61538"/>
              <a:buFont typeface="Segoe UI Symbol"/>
              <a:buChar char="❑"/>
              <a:tabLst>
                <a:tab pos="342265" algn="l"/>
              </a:tabLst>
            </a:pPr>
            <a:r>
              <a:rPr dirty="0" sz="2600">
                <a:latin typeface="Arial"/>
                <a:cs typeface="Arial"/>
              </a:rPr>
              <a:t>Problem</a:t>
            </a:r>
            <a:r>
              <a:rPr dirty="0" sz="2600" spc="-10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Statement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Font typeface="Segoe UI Symbol"/>
              <a:buChar char="❑"/>
            </a:pPr>
            <a:endParaRPr sz="2600">
              <a:latin typeface="Arial"/>
              <a:cs typeface="Arial"/>
            </a:endParaRPr>
          </a:p>
          <a:p>
            <a:pPr marL="342265" indent="-329565">
              <a:lnSpc>
                <a:spcPct val="100000"/>
              </a:lnSpc>
              <a:buSzPct val="61538"/>
              <a:buFont typeface="Segoe UI Symbol"/>
              <a:buChar char="❑"/>
              <a:tabLst>
                <a:tab pos="342265" algn="l"/>
              </a:tabLst>
            </a:pPr>
            <a:r>
              <a:rPr dirty="0" sz="2600">
                <a:latin typeface="Arial"/>
                <a:cs typeface="Arial"/>
              </a:rPr>
              <a:t>Data</a:t>
            </a:r>
            <a:r>
              <a:rPr dirty="0" sz="2600" spc="-6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Description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Font typeface="Segoe UI Symbol"/>
              <a:buChar char="❑"/>
            </a:pPr>
            <a:endParaRPr sz="2600">
              <a:latin typeface="Arial"/>
              <a:cs typeface="Arial"/>
            </a:endParaRPr>
          </a:p>
          <a:p>
            <a:pPr marL="342265" indent="-329565">
              <a:lnSpc>
                <a:spcPct val="100000"/>
              </a:lnSpc>
              <a:buSzPct val="61538"/>
              <a:buFont typeface="Segoe UI Symbol"/>
              <a:buChar char="❑"/>
              <a:tabLst>
                <a:tab pos="342265" algn="l"/>
              </a:tabLst>
            </a:pPr>
            <a:r>
              <a:rPr dirty="0" sz="2600">
                <a:latin typeface="Arial"/>
                <a:cs typeface="Arial"/>
              </a:rPr>
              <a:t>Charts</a:t>
            </a:r>
            <a:r>
              <a:rPr dirty="0" sz="2600" spc="-6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for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Visualization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Font typeface="Segoe UI Symbol"/>
              <a:buChar char="❑"/>
            </a:pPr>
            <a:endParaRPr sz="2600">
              <a:latin typeface="Arial"/>
              <a:cs typeface="Arial"/>
            </a:endParaRPr>
          </a:p>
          <a:p>
            <a:pPr marL="342265" indent="-329565">
              <a:lnSpc>
                <a:spcPct val="100000"/>
              </a:lnSpc>
              <a:buSzPct val="61538"/>
              <a:buFont typeface="Segoe UI Symbol"/>
              <a:buChar char="❑"/>
              <a:tabLst>
                <a:tab pos="342265" algn="l"/>
              </a:tabLst>
            </a:pPr>
            <a:r>
              <a:rPr dirty="0" sz="2600" spc="-10">
                <a:latin typeface="Arial"/>
                <a:cs typeface="Arial"/>
              </a:rPr>
              <a:t>Dashboard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0"/>
              </a:spcBef>
              <a:buFont typeface="Segoe UI Symbol"/>
              <a:buChar char="❑"/>
            </a:pPr>
            <a:endParaRPr sz="2600">
              <a:latin typeface="Arial"/>
              <a:cs typeface="Arial"/>
            </a:endParaRPr>
          </a:p>
          <a:p>
            <a:pPr marL="342265" indent="-329565">
              <a:lnSpc>
                <a:spcPct val="100000"/>
              </a:lnSpc>
              <a:buSzPct val="61538"/>
              <a:buFont typeface="Segoe UI Symbol"/>
              <a:buChar char="❑"/>
              <a:tabLst>
                <a:tab pos="342265" algn="l"/>
              </a:tabLst>
            </a:pPr>
            <a:r>
              <a:rPr dirty="0" sz="2600" spc="-10">
                <a:latin typeface="Arial"/>
                <a:cs typeface="Arial"/>
              </a:rPr>
              <a:t>Insights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  <a:buFont typeface="Segoe UI Symbol"/>
              <a:buChar char="❑"/>
            </a:pPr>
            <a:endParaRPr sz="2600">
              <a:latin typeface="Arial"/>
              <a:cs typeface="Arial"/>
            </a:endParaRPr>
          </a:p>
          <a:p>
            <a:pPr marL="342265" indent="-329565">
              <a:lnSpc>
                <a:spcPct val="100000"/>
              </a:lnSpc>
              <a:buSzPct val="61538"/>
              <a:buFont typeface="Segoe UI Symbol"/>
              <a:buChar char="❑"/>
              <a:tabLst>
                <a:tab pos="342265" algn="l"/>
              </a:tabLst>
            </a:pPr>
            <a:r>
              <a:rPr dirty="0" sz="2600" spc="-10">
                <a:latin typeface="Arial"/>
                <a:cs typeface="Arial"/>
              </a:rPr>
              <a:t>Conclusion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-133625"/>
            <a:ext cx="10168255" cy="255587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 b="1">
                <a:latin typeface="Arial"/>
                <a:cs typeface="Arial"/>
              </a:rPr>
              <a:t>Problem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Statement</a:t>
            </a:r>
            <a:endParaRPr sz="1400">
              <a:latin typeface="Arial"/>
              <a:cs typeface="Arial"/>
            </a:endParaRPr>
          </a:p>
          <a:p>
            <a:pPr marL="12700" marR="184785">
              <a:lnSpc>
                <a:spcPct val="150000"/>
              </a:lnSpc>
            </a:pPr>
            <a:r>
              <a:rPr dirty="0" sz="1400">
                <a:latin typeface="Arial"/>
                <a:cs typeface="Arial"/>
              </a:rPr>
              <a:t>Call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centers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handle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thousands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of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customer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support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tickets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across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different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categories,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priorities,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severity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levels.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Without </a:t>
            </a:r>
            <a:r>
              <a:rPr dirty="0" sz="1400">
                <a:latin typeface="Arial"/>
                <a:cs typeface="Arial"/>
              </a:rPr>
              <a:t>effective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data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analysis,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becomes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difficult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monitor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operational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performance,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identify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service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bottlenecks,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make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informed </a:t>
            </a:r>
            <a:r>
              <a:rPr dirty="0" sz="1400">
                <a:latin typeface="Arial"/>
                <a:cs typeface="Arial"/>
              </a:rPr>
              <a:t>investment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decisions.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dirty="0" sz="1400">
                <a:latin typeface="Arial"/>
                <a:cs typeface="Arial"/>
              </a:rPr>
              <a:t>This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project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aims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analyze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ticket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data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from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2016–2020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evaluate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key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performance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metrics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such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ticket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volume,</a:t>
            </a:r>
            <a:r>
              <a:rPr dirty="0" sz="1400" spc="-10">
                <a:latin typeface="Arial"/>
                <a:cs typeface="Arial"/>
              </a:rPr>
              <a:t> resolution </a:t>
            </a:r>
            <a:r>
              <a:rPr dirty="0" sz="1400">
                <a:latin typeface="Arial"/>
                <a:cs typeface="Arial"/>
              </a:rPr>
              <a:t>time,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customer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satisfaction,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agent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performance,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request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distribution.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goal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is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develop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interactive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dashboard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that </a:t>
            </a:r>
            <a:r>
              <a:rPr dirty="0" sz="1400">
                <a:latin typeface="Arial"/>
                <a:cs typeface="Arial"/>
              </a:rPr>
              <a:t>provides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actionable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insights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supports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data-</a:t>
            </a:r>
            <a:r>
              <a:rPr dirty="0" sz="1400">
                <a:latin typeface="Arial"/>
                <a:cs typeface="Arial"/>
              </a:rPr>
              <a:t>driven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decisions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improve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operational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efficiency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customer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service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1200" spc="-5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564041"/>
            <a:ext cx="10515600" cy="3522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Arial"/>
                <a:cs typeface="Arial"/>
              </a:rPr>
              <a:t>Resolution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Time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(Days):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/>
              <a:t>Time</a:t>
            </a:r>
            <a:r>
              <a:rPr dirty="0" spc="-15"/>
              <a:t> </a:t>
            </a:r>
            <a:r>
              <a:rPr dirty="0"/>
              <a:t>taken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resolve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ticket. </a:t>
            </a:r>
            <a:r>
              <a:rPr dirty="0"/>
              <a:t>Satisfaction</a:t>
            </a:r>
            <a:r>
              <a:rPr dirty="0" spc="-25"/>
              <a:t> </a:t>
            </a:r>
            <a:r>
              <a:rPr dirty="0"/>
              <a:t>Rate:</a:t>
            </a:r>
            <a:r>
              <a:rPr dirty="0" spc="-20"/>
              <a:t> </a:t>
            </a:r>
            <a:r>
              <a:rPr dirty="0"/>
              <a:t>Satisfaction</a:t>
            </a:r>
            <a:r>
              <a:rPr dirty="0" spc="-25"/>
              <a:t> </a:t>
            </a:r>
            <a:r>
              <a:rPr dirty="0"/>
              <a:t>rate</a:t>
            </a:r>
            <a:r>
              <a:rPr dirty="0" spc="-20"/>
              <a:t> </a:t>
            </a:r>
            <a:r>
              <a:rPr dirty="0"/>
              <a:t>provided</a:t>
            </a:r>
            <a:r>
              <a:rPr dirty="0" spc="-20"/>
              <a:t> </a:t>
            </a:r>
            <a:r>
              <a:rPr dirty="0"/>
              <a:t>by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employee</a:t>
            </a:r>
            <a:r>
              <a:rPr dirty="0" spc="-20"/>
              <a:t> </a:t>
            </a:r>
            <a:r>
              <a:rPr dirty="0" spc="-10"/>
              <a:t>(1-</a:t>
            </a:r>
            <a:r>
              <a:rPr dirty="0" spc="-50"/>
              <a:t>5 </a:t>
            </a:r>
            <a:r>
              <a:rPr dirty="0" spc="-10"/>
              <a:t>scale).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IT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Agents: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/>
              <a:t>Contains</a:t>
            </a:r>
            <a:r>
              <a:rPr dirty="0" spc="-15"/>
              <a:t> </a:t>
            </a:r>
            <a:r>
              <a:rPr dirty="0"/>
              <a:t>information</a:t>
            </a:r>
            <a:r>
              <a:rPr dirty="0" spc="-15"/>
              <a:t> </a:t>
            </a:r>
            <a:r>
              <a:rPr dirty="0"/>
              <a:t>about</a:t>
            </a:r>
            <a:r>
              <a:rPr dirty="0" spc="-15"/>
              <a:t> </a:t>
            </a:r>
            <a:r>
              <a:rPr dirty="0"/>
              <a:t>IT</a:t>
            </a:r>
            <a:r>
              <a:rPr dirty="0" spc="-10"/>
              <a:t> agents.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Agent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ID: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/>
              <a:t>Unique</a:t>
            </a:r>
            <a:r>
              <a:rPr dirty="0" spc="-10"/>
              <a:t> </a:t>
            </a:r>
            <a:r>
              <a:rPr dirty="0"/>
              <a:t>identifier</a:t>
            </a:r>
            <a:r>
              <a:rPr dirty="0" spc="-1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agent.</a:t>
            </a:r>
          </a:p>
          <a:p>
            <a:pPr marL="12700" marR="2009775">
              <a:lnSpc>
                <a:spcPct val="200000"/>
              </a:lnSpc>
            </a:pPr>
            <a:r>
              <a:rPr dirty="0" b="1">
                <a:latin typeface="Arial"/>
                <a:cs typeface="Arial"/>
              </a:rPr>
              <a:t>Full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Name: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/>
              <a:t>Full</a:t>
            </a:r>
            <a:r>
              <a:rPr dirty="0" spc="-5"/>
              <a:t> </a:t>
            </a:r>
            <a:r>
              <a:rPr dirty="0"/>
              <a:t>name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10"/>
              <a:t>agent. </a:t>
            </a:r>
            <a:r>
              <a:rPr dirty="0" b="1">
                <a:latin typeface="Arial"/>
                <a:cs typeface="Arial"/>
              </a:rPr>
              <a:t>Email: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/>
              <a:t>Email</a:t>
            </a:r>
            <a:r>
              <a:rPr dirty="0" spc="-15"/>
              <a:t> </a:t>
            </a:r>
            <a:r>
              <a:rPr dirty="0"/>
              <a:t>address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agent.</a:t>
            </a:r>
            <a:r>
              <a:rPr dirty="0" spc="500"/>
              <a:t> </a:t>
            </a:r>
            <a:r>
              <a:rPr dirty="0" b="1">
                <a:latin typeface="Arial"/>
                <a:cs typeface="Arial"/>
              </a:rPr>
              <a:t>Year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of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Birth: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/>
              <a:t>Year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agent</a:t>
            </a:r>
            <a:r>
              <a:rPr dirty="0" spc="-10"/>
              <a:t> </a:t>
            </a:r>
            <a:r>
              <a:rPr dirty="0"/>
              <a:t>was</a:t>
            </a:r>
            <a:r>
              <a:rPr dirty="0" spc="-10"/>
              <a:t> born.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Month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of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Birth: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/>
              <a:t>Month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agent</a:t>
            </a:r>
            <a:r>
              <a:rPr dirty="0" spc="-10"/>
              <a:t> </a:t>
            </a:r>
            <a:r>
              <a:rPr dirty="0"/>
              <a:t>was</a:t>
            </a:r>
            <a:r>
              <a:rPr dirty="0" spc="-5"/>
              <a:t> </a:t>
            </a:r>
            <a:r>
              <a:rPr dirty="0" spc="-10"/>
              <a:t>born.</a:t>
            </a:r>
          </a:p>
          <a:p>
            <a:pPr>
              <a:lnSpc>
                <a:spcPct val="100000"/>
              </a:lnSpc>
              <a:spcBef>
                <a:spcPts val="70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Day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of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Birth: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/>
              <a:t>Day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agent</a:t>
            </a:r>
            <a:r>
              <a:rPr dirty="0" spc="-5"/>
              <a:t> </a:t>
            </a:r>
            <a:r>
              <a:rPr dirty="0"/>
              <a:t>was</a:t>
            </a:r>
            <a:r>
              <a:rPr dirty="0" spc="-5"/>
              <a:t> </a:t>
            </a:r>
            <a:r>
              <a:rPr dirty="0" spc="-10"/>
              <a:t>born.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62989" y="1248028"/>
            <a:ext cx="5199380" cy="3268979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500" b="1">
                <a:latin typeface="Arial"/>
                <a:cs typeface="Arial"/>
              </a:rPr>
              <a:t>Tickets</a:t>
            </a:r>
            <a:r>
              <a:rPr dirty="0" sz="1500" spc="-4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Sheet: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Contains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information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about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IT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support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tickets.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500" b="1">
                <a:latin typeface="Arial"/>
                <a:cs typeface="Arial"/>
              </a:rPr>
              <a:t>ID: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Unique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identifier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for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ticket.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500" b="1">
                <a:latin typeface="Arial"/>
                <a:cs typeface="Arial"/>
              </a:rPr>
              <a:t>Ticket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Fecha: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Date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of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ticket.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500" b="1">
                <a:latin typeface="Arial"/>
                <a:cs typeface="Arial"/>
              </a:rPr>
              <a:t>Employee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ID: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ID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of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employee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who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raised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ticket.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500" b="1">
                <a:latin typeface="Arial"/>
                <a:cs typeface="Arial"/>
              </a:rPr>
              <a:t>Agent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ID: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ID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of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agent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assigned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to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ticket.</a:t>
            </a:r>
            <a:endParaRPr sz="1500">
              <a:latin typeface="Arial"/>
              <a:cs typeface="Arial"/>
            </a:endParaRPr>
          </a:p>
          <a:p>
            <a:pPr marL="12700" marR="436880">
              <a:lnSpc>
                <a:spcPct val="100000"/>
              </a:lnSpc>
              <a:spcBef>
                <a:spcPts val="1000"/>
              </a:spcBef>
            </a:pPr>
            <a:r>
              <a:rPr dirty="0" sz="1500" b="1">
                <a:latin typeface="Arial"/>
                <a:cs typeface="Arial"/>
              </a:rPr>
              <a:t>Request</a:t>
            </a:r>
            <a:r>
              <a:rPr dirty="0" sz="1500" spc="-5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Category: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Category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of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request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(e.g.,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Login </a:t>
            </a:r>
            <a:r>
              <a:rPr dirty="0" sz="1500">
                <a:latin typeface="Arial"/>
                <a:cs typeface="Arial"/>
              </a:rPr>
              <a:t>Access,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System,</a:t>
            </a:r>
            <a:r>
              <a:rPr dirty="0" sz="1500" spc="-2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Software).</a:t>
            </a:r>
            <a:endParaRPr sz="1500">
              <a:latin typeface="Arial"/>
              <a:cs typeface="Arial"/>
            </a:endParaRPr>
          </a:p>
          <a:p>
            <a:pPr marL="12700" marR="607695">
              <a:lnSpc>
                <a:spcPct val="155600"/>
              </a:lnSpc>
            </a:pPr>
            <a:r>
              <a:rPr dirty="0" sz="1500" b="1">
                <a:latin typeface="Arial"/>
                <a:cs typeface="Arial"/>
              </a:rPr>
              <a:t>Issue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Type: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Type</a:t>
            </a:r>
            <a:r>
              <a:rPr dirty="0" sz="1500" spc="-2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of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issue</a:t>
            </a:r>
            <a:r>
              <a:rPr dirty="0" sz="1500" spc="-2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(e.g.,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IT</a:t>
            </a:r>
            <a:r>
              <a:rPr dirty="0" sz="1500" spc="-2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Error,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IT</a:t>
            </a:r>
            <a:r>
              <a:rPr dirty="0" sz="1500" spc="-2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Request). </a:t>
            </a:r>
            <a:r>
              <a:rPr dirty="0" sz="1500">
                <a:latin typeface="Arial"/>
                <a:cs typeface="Arial"/>
              </a:rPr>
              <a:t>Severity: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Severity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of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issue.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500" b="1">
                <a:latin typeface="Arial"/>
                <a:cs typeface="Arial"/>
              </a:rPr>
              <a:t>Priority: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Priority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level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of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issue.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The</a:t>
            </a:r>
            <a:r>
              <a:rPr dirty="0" sz="1800" spc="-20"/>
              <a:t> </a:t>
            </a:r>
            <a:r>
              <a:rPr dirty="0" sz="1800"/>
              <a:t>image</a:t>
            </a:r>
            <a:r>
              <a:rPr dirty="0" sz="1800" spc="-20"/>
              <a:t> </a:t>
            </a:r>
            <a:r>
              <a:rPr dirty="0" sz="1800"/>
              <a:t>above</a:t>
            </a:r>
            <a:r>
              <a:rPr dirty="0" sz="1800" spc="-20"/>
              <a:t> </a:t>
            </a:r>
            <a:r>
              <a:rPr dirty="0" sz="1800"/>
              <a:t>displays</a:t>
            </a:r>
            <a:r>
              <a:rPr dirty="0" sz="1800" spc="-15"/>
              <a:t> </a:t>
            </a:r>
            <a:r>
              <a:rPr dirty="0" sz="1800"/>
              <a:t>details</a:t>
            </a:r>
            <a:r>
              <a:rPr dirty="0" sz="1800" spc="-20"/>
              <a:t> </a:t>
            </a:r>
            <a:r>
              <a:rPr dirty="0" sz="1800"/>
              <a:t>about</a:t>
            </a:r>
            <a:r>
              <a:rPr dirty="0" sz="1800" spc="-20"/>
              <a:t> </a:t>
            </a:r>
            <a:r>
              <a:rPr dirty="0" sz="1800"/>
              <a:t>IT</a:t>
            </a:r>
            <a:r>
              <a:rPr dirty="0" sz="1800" spc="-20"/>
              <a:t> </a:t>
            </a:r>
            <a:r>
              <a:rPr dirty="0" sz="1800"/>
              <a:t>Ticket</a:t>
            </a:r>
            <a:r>
              <a:rPr dirty="0" sz="1800" spc="-15"/>
              <a:t> </a:t>
            </a:r>
            <a:r>
              <a:rPr dirty="0" sz="1800"/>
              <a:t>Information,</a:t>
            </a:r>
            <a:r>
              <a:rPr dirty="0" sz="1800" spc="-20"/>
              <a:t> </a:t>
            </a:r>
            <a:r>
              <a:rPr dirty="0" sz="1800" spc="-10"/>
              <a:t>including: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8399"/>
            <a:ext cx="8921115" cy="782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22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Slide</a:t>
            </a:r>
            <a:r>
              <a:rPr dirty="0" sz="2800" spc="-5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3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:Data</a:t>
            </a:r>
            <a:r>
              <a:rPr dirty="0" sz="2800" spc="-4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Cleaning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2740"/>
              </a:lnSpc>
            </a:pPr>
            <a:r>
              <a:rPr dirty="0" b="1">
                <a:latin typeface="Arial"/>
                <a:cs typeface="Arial"/>
              </a:rPr>
              <a:t>Objective: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z="2000"/>
              <a:t>Ensure</a:t>
            </a:r>
            <a:r>
              <a:rPr dirty="0" sz="2000" spc="-30"/>
              <a:t> </a:t>
            </a:r>
            <a:r>
              <a:rPr dirty="0" sz="2000"/>
              <a:t>the</a:t>
            </a:r>
            <a:r>
              <a:rPr dirty="0" sz="2000" spc="-30"/>
              <a:t> </a:t>
            </a:r>
            <a:r>
              <a:rPr dirty="0" sz="2000"/>
              <a:t>dataset</a:t>
            </a:r>
            <a:r>
              <a:rPr dirty="0" sz="2000" spc="-30"/>
              <a:t> </a:t>
            </a:r>
            <a:r>
              <a:rPr dirty="0" sz="2000"/>
              <a:t>is</a:t>
            </a:r>
            <a:r>
              <a:rPr dirty="0" sz="2000" spc="-25"/>
              <a:t> </a:t>
            </a:r>
            <a:r>
              <a:rPr dirty="0" sz="2000"/>
              <a:t>accurate,</a:t>
            </a:r>
            <a:r>
              <a:rPr dirty="0" sz="2000" spc="-30"/>
              <a:t> </a:t>
            </a:r>
            <a:r>
              <a:rPr dirty="0" sz="2000"/>
              <a:t>consistent,</a:t>
            </a:r>
            <a:r>
              <a:rPr dirty="0" sz="2000" spc="-30"/>
              <a:t> </a:t>
            </a:r>
            <a:r>
              <a:rPr dirty="0" sz="2000"/>
              <a:t>and</a:t>
            </a:r>
            <a:r>
              <a:rPr dirty="0" sz="2000" spc="-30"/>
              <a:t> </a:t>
            </a:r>
            <a:r>
              <a:rPr dirty="0" sz="2000"/>
              <a:t>ready</a:t>
            </a:r>
            <a:r>
              <a:rPr dirty="0" sz="2000" spc="-25"/>
              <a:t> </a:t>
            </a:r>
            <a:r>
              <a:rPr dirty="0" sz="2000"/>
              <a:t>for</a:t>
            </a:r>
            <a:r>
              <a:rPr dirty="0" sz="2000" spc="-30"/>
              <a:t> </a:t>
            </a:r>
            <a:r>
              <a:rPr dirty="0" sz="2000" spc="-10"/>
              <a:t>analysis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726806"/>
            <a:ext cx="9839960" cy="438531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800" b="1">
                <a:latin typeface="Arial"/>
                <a:cs typeface="Arial"/>
              </a:rPr>
              <a:t>Data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Cleaning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Steps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Performed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Removed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duplicate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records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(if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any).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Checked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handled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missing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blank</a:t>
            </a:r>
            <a:r>
              <a:rPr dirty="0" sz="1800" spc="-10">
                <a:latin typeface="Arial"/>
                <a:cs typeface="Arial"/>
              </a:rPr>
              <a:t> values.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Verified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Resolution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Time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(Days)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Satisfaction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Rate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were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stored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numeric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values.</a:t>
            </a:r>
            <a:endParaRPr sz="1800">
              <a:latin typeface="Arial"/>
              <a:cs typeface="Arial"/>
            </a:endParaRPr>
          </a:p>
          <a:p>
            <a:pPr marL="241300" marR="5080" indent="-228600">
              <a:lnSpc>
                <a:spcPts val="1939"/>
              </a:lnSpc>
              <a:spcBef>
                <a:spcPts val="1030"/>
              </a:spcBef>
              <a:buChar char="•"/>
              <a:tabLst>
                <a:tab pos="241300" algn="l"/>
              </a:tabLst>
            </a:pPr>
            <a:r>
              <a:rPr dirty="0" sz="1800">
                <a:latin typeface="Arial"/>
                <a:cs typeface="Arial"/>
              </a:rPr>
              <a:t>Reviewed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categorical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fields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(Priority,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Severity,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Request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Category,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Issue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Type,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Agent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Name)</a:t>
            </a:r>
            <a:r>
              <a:rPr dirty="0" sz="1800" spc="-25">
                <a:latin typeface="Arial"/>
                <a:cs typeface="Arial"/>
              </a:rPr>
              <a:t> for </a:t>
            </a:r>
            <a:r>
              <a:rPr dirty="0" sz="1800">
                <a:latin typeface="Arial"/>
                <a:cs typeface="Arial"/>
              </a:rPr>
              <a:t>consistency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corrected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formatting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where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needed.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Validated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Ticket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IDs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ensure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each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record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was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uniquely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identifiable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1800" spc="-10" b="1">
                <a:latin typeface="Arial"/>
                <a:cs typeface="Arial"/>
              </a:rPr>
              <a:t>Outcome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Clean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consistent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dataset.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Reliable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KPIs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charts.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Improved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accuracy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performance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analysis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investment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recommendations.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IDs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ensure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each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record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was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uniquely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identifiable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1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Slide</a:t>
            </a:r>
            <a:r>
              <a:rPr dirty="0" sz="2800" spc="-55"/>
              <a:t> </a:t>
            </a:r>
            <a:r>
              <a:rPr dirty="0" sz="2800"/>
              <a:t>4</a:t>
            </a:r>
            <a:r>
              <a:rPr dirty="0" sz="2800" spc="-55"/>
              <a:t> </a:t>
            </a:r>
            <a:r>
              <a:rPr dirty="0" sz="2800"/>
              <a:t>:</a:t>
            </a:r>
            <a:r>
              <a:rPr dirty="0" sz="2800" spc="-50"/>
              <a:t> </a:t>
            </a:r>
            <a:r>
              <a:rPr dirty="0" sz="2800"/>
              <a:t>Ticket</a:t>
            </a:r>
            <a:r>
              <a:rPr dirty="0" sz="2800" spc="-55"/>
              <a:t> </a:t>
            </a:r>
            <a:r>
              <a:rPr dirty="0" sz="2800"/>
              <a:t>Volume</a:t>
            </a:r>
            <a:r>
              <a:rPr dirty="0" sz="2800" spc="-55"/>
              <a:t> </a:t>
            </a:r>
            <a:r>
              <a:rPr dirty="0" sz="2800" spc="-10"/>
              <a:t>Trend</a:t>
            </a:r>
            <a:endParaRPr sz="2800"/>
          </a:p>
        </p:txBody>
      </p:sp>
      <p:grpSp>
        <p:nvGrpSpPr>
          <p:cNvPr id="3" name="object 3" descr=""/>
          <p:cNvGrpSpPr/>
          <p:nvPr/>
        </p:nvGrpSpPr>
        <p:grpSpPr>
          <a:xfrm>
            <a:off x="886391" y="4958854"/>
            <a:ext cx="5545455" cy="9525"/>
            <a:chOff x="886391" y="4958854"/>
            <a:chExt cx="5545455" cy="9525"/>
          </a:xfrm>
        </p:grpSpPr>
        <p:sp>
          <p:nvSpPr>
            <p:cNvPr id="4" name="object 4" descr=""/>
            <p:cNvSpPr/>
            <p:nvPr/>
          </p:nvSpPr>
          <p:spPr>
            <a:xfrm>
              <a:off x="891153" y="4963617"/>
              <a:ext cx="5535930" cy="0"/>
            </a:xfrm>
            <a:custGeom>
              <a:avLst/>
              <a:gdLst/>
              <a:ahLst/>
              <a:cxnLst/>
              <a:rect l="l" t="t" r="r" b="b"/>
              <a:pathLst>
                <a:path w="5535930" h="0">
                  <a:moveTo>
                    <a:pt x="0" y="0"/>
                  </a:moveTo>
                  <a:lnTo>
                    <a:pt x="553572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86383" y="4958867"/>
              <a:ext cx="5545455" cy="9525"/>
            </a:xfrm>
            <a:custGeom>
              <a:avLst/>
              <a:gdLst/>
              <a:ahLst/>
              <a:cxnLst/>
              <a:rect l="l" t="t" r="r" b="b"/>
              <a:pathLst>
                <a:path w="5545455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5545455" h="9525">
                  <a:moveTo>
                    <a:pt x="101790" y="4749"/>
                  </a:moveTo>
                  <a:lnTo>
                    <a:pt x="100393" y="1384"/>
                  </a:lnTo>
                  <a:lnTo>
                    <a:pt x="97028" y="0"/>
                  </a:lnTo>
                  <a:lnTo>
                    <a:pt x="93662" y="1384"/>
                  </a:lnTo>
                  <a:lnTo>
                    <a:pt x="92265" y="4749"/>
                  </a:lnTo>
                  <a:lnTo>
                    <a:pt x="93662" y="8128"/>
                  </a:lnTo>
                  <a:lnTo>
                    <a:pt x="97028" y="9512"/>
                  </a:lnTo>
                  <a:lnTo>
                    <a:pt x="100393" y="8128"/>
                  </a:lnTo>
                  <a:lnTo>
                    <a:pt x="101790" y="4749"/>
                  </a:lnTo>
                  <a:close/>
                </a:path>
                <a:path w="5545455" h="9525">
                  <a:moveTo>
                    <a:pt x="194056" y="4749"/>
                  </a:moveTo>
                  <a:lnTo>
                    <a:pt x="192659" y="1384"/>
                  </a:lnTo>
                  <a:lnTo>
                    <a:pt x="189293" y="0"/>
                  </a:lnTo>
                  <a:lnTo>
                    <a:pt x="185915" y="1384"/>
                  </a:lnTo>
                  <a:lnTo>
                    <a:pt x="184531" y="4749"/>
                  </a:lnTo>
                  <a:lnTo>
                    <a:pt x="185915" y="8128"/>
                  </a:lnTo>
                  <a:lnTo>
                    <a:pt x="189293" y="9512"/>
                  </a:lnTo>
                  <a:lnTo>
                    <a:pt x="192659" y="8128"/>
                  </a:lnTo>
                  <a:lnTo>
                    <a:pt x="194056" y="4749"/>
                  </a:lnTo>
                  <a:close/>
                </a:path>
                <a:path w="5545455" h="9525">
                  <a:moveTo>
                    <a:pt x="286308" y="4749"/>
                  </a:moveTo>
                  <a:lnTo>
                    <a:pt x="284911" y="1384"/>
                  </a:lnTo>
                  <a:lnTo>
                    <a:pt x="281546" y="0"/>
                  </a:lnTo>
                  <a:lnTo>
                    <a:pt x="278180" y="1384"/>
                  </a:lnTo>
                  <a:lnTo>
                    <a:pt x="276783" y="4749"/>
                  </a:lnTo>
                  <a:lnTo>
                    <a:pt x="278180" y="8128"/>
                  </a:lnTo>
                  <a:lnTo>
                    <a:pt x="281546" y="9512"/>
                  </a:lnTo>
                  <a:lnTo>
                    <a:pt x="284911" y="8128"/>
                  </a:lnTo>
                  <a:lnTo>
                    <a:pt x="286308" y="4749"/>
                  </a:lnTo>
                  <a:close/>
                </a:path>
                <a:path w="5545455" h="9525">
                  <a:moveTo>
                    <a:pt x="378574" y="4749"/>
                  </a:moveTo>
                  <a:lnTo>
                    <a:pt x="377177" y="1384"/>
                  </a:lnTo>
                  <a:lnTo>
                    <a:pt x="373811" y="0"/>
                  </a:lnTo>
                  <a:lnTo>
                    <a:pt x="370446" y="1384"/>
                  </a:lnTo>
                  <a:lnTo>
                    <a:pt x="369049" y="4749"/>
                  </a:lnTo>
                  <a:lnTo>
                    <a:pt x="370446" y="8128"/>
                  </a:lnTo>
                  <a:lnTo>
                    <a:pt x="373811" y="9512"/>
                  </a:lnTo>
                  <a:lnTo>
                    <a:pt x="377177" y="8128"/>
                  </a:lnTo>
                  <a:lnTo>
                    <a:pt x="378574" y="4749"/>
                  </a:lnTo>
                  <a:close/>
                </a:path>
                <a:path w="5545455" h="9525">
                  <a:moveTo>
                    <a:pt x="470839" y="4749"/>
                  </a:moveTo>
                  <a:lnTo>
                    <a:pt x="469442" y="1384"/>
                  </a:lnTo>
                  <a:lnTo>
                    <a:pt x="466077" y="0"/>
                  </a:lnTo>
                  <a:lnTo>
                    <a:pt x="462711" y="1384"/>
                  </a:lnTo>
                  <a:lnTo>
                    <a:pt x="461314" y="4749"/>
                  </a:lnTo>
                  <a:lnTo>
                    <a:pt x="462711" y="8128"/>
                  </a:lnTo>
                  <a:lnTo>
                    <a:pt x="466077" y="9512"/>
                  </a:lnTo>
                  <a:lnTo>
                    <a:pt x="469442" y="8128"/>
                  </a:lnTo>
                  <a:lnTo>
                    <a:pt x="470839" y="4749"/>
                  </a:lnTo>
                  <a:close/>
                </a:path>
                <a:path w="5545455" h="9525">
                  <a:moveTo>
                    <a:pt x="563092" y="4749"/>
                  </a:moveTo>
                  <a:lnTo>
                    <a:pt x="561708" y="1384"/>
                  </a:lnTo>
                  <a:lnTo>
                    <a:pt x="558342" y="0"/>
                  </a:lnTo>
                  <a:lnTo>
                    <a:pt x="554964" y="1384"/>
                  </a:lnTo>
                  <a:lnTo>
                    <a:pt x="553580" y="4749"/>
                  </a:lnTo>
                  <a:lnTo>
                    <a:pt x="554964" y="8128"/>
                  </a:lnTo>
                  <a:lnTo>
                    <a:pt x="558342" y="9512"/>
                  </a:lnTo>
                  <a:lnTo>
                    <a:pt x="561708" y="8128"/>
                  </a:lnTo>
                  <a:lnTo>
                    <a:pt x="563092" y="4749"/>
                  </a:lnTo>
                  <a:close/>
                </a:path>
                <a:path w="5545455" h="9525">
                  <a:moveTo>
                    <a:pt x="655358" y="4749"/>
                  </a:moveTo>
                  <a:lnTo>
                    <a:pt x="653961" y="1384"/>
                  </a:lnTo>
                  <a:lnTo>
                    <a:pt x="650595" y="0"/>
                  </a:lnTo>
                  <a:lnTo>
                    <a:pt x="647230" y="1384"/>
                  </a:lnTo>
                  <a:lnTo>
                    <a:pt x="645833" y="4749"/>
                  </a:lnTo>
                  <a:lnTo>
                    <a:pt x="647230" y="8128"/>
                  </a:lnTo>
                  <a:lnTo>
                    <a:pt x="650595" y="9512"/>
                  </a:lnTo>
                  <a:lnTo>
                    <a:pt x="653961" y="8128"/>
                  </a:lnTo>
                  <a:lnTo>
                    <a:pt x="655358" y="4749"/>
                  </a:lnTo>
                  <a:close/>
                </a:path>
                <a:path w="5545455" h="9525">
                  <a:moveTo>
                    <a:pt x="747623" y="4749"/>
                  </a:moveTo>
                  <a:lnTo>
                    <a:pt x="746226" y="1384"/>
                  </a:lnTo>
                  <a:lnTo>
                    <a:pt x="742861" y="0"/>
                  </a:lnTo>
                  <a:lnTo>
                    <a:pt x="739495" y="1384"/>
                  </a:lnTo>
                  <a:lnTo>
                    <a:pt x="738098" y="4749"/>
                  </a:lnTo>
                  <a:lnTo>
                    <a:pt x="739495" y="8128"/>
                  </a:lnTo>
                  <a:lnTo>
                    <a:pt x="742861" y="9512"/>
                  </a:lnTo>
                  <a:lnTo>
                    <a:pt x="746226" y="8128"/>
                  </a:lnTo>
                  <a:lnTo>
                    <a:pt x="747623" y="4749"/>
                  </a:lnTo>
                  <a:close/>
                </a:path>
                <a:path w="5545455" h="9525">
                  <a:moveTo>
                    <a:pt x="839889" y="4749"/>
                  </a:moveTo>
                  <a:lnTo>
                    <a:pt x="838492" y="1384"/>
                  </a:lnTo>
                  <a:lnTo>
                    <a:pt x="835126" y="0"/>
                  </a:lnTo>
                  <a:lnTo>
                    <a:pt x="831761" y="1384"/>
                  </a:lnTo>
                  <a:lnTo>
                    <a:pt x="830364" y="4749"/>
                  </a:lnTo>
                  <a:lnTo>
                    <a:pt x="831761" y="8128"/>
                  </a:lnTo>
                  <a:lnTo>
                    <a:pt x="835126" y="9512"/>
                  </a:lnTo>
                  <a:lnTo>
                    <a:pt x="838492" y="8128"/>
                  </a:lnTo>
                  <a:lnTo>
                    <a:pt x="839889" y="4749"/>
                  </a:lnTo>
                  <a:close/>
                </a:path>
                <a:path w="5545455" h="9525">
                  <a:moveTo>
                    <a:pt x="932154" y="4749"/>
                  </a:moveTo>
                  <a:lnTo>
                    <a:pt x="930757" y="1384"/>
                  </a:lnTo>
                  <a:lnTo>
                    <a:pt x="927392" y="0"/>
                  </a:lnTo>
                  <a:lnTo>
                    <a:pt x="924013" y="1384"/>
                  </a:lnTo>
                  <a:lnTo>
                    <a:pt x="922629" y="4749"/>
                  </a:lnTo>
                  <a:lnTo>
                    <a:pt x="924013" y="8128"/>
                  </a:lnTo>
                  <a:lnTo>
                    <a:pt x="927392" y="9512"/>
                  </a:lnTo>
                  <a:lnTo>
                    <a:pt x="930757" y="8128"/>
                  </a:lnTo>
                  <a:lnTo>
                    <a:pt x="932154" y="4749"/>
                  </a:lnTo>
                  <a:close/>
                </a:path>
                <a:path w="5545455" h="9525">
                  <a:moveTo>
                    <a:pt x="1024420" y="4749"/>
                  </a:moveTo>
                  <a:lnTo>
                    <a:pt x="1023023" y="1384"/>
                  </a:lnTo>
                  <a:lnTo>
                    <a:pt x="1019657" y="0"/>
                  </a:lnTo>
                  <a:lnTo>
                    <a:pt x="1016279" y="1384"/>
                  </a:lnTo>
                  <a:lnTo>
                    <a:pt x="1014895" y="4749"/>
                  </a:lnTo>
                  <a:lnTo>
                    <a:pt x="1016279" y="8128"/>
                  </a:lnTo>
                  <a:lnTo>
                    <a:pt x="1019657" y="9512"/>
                  </a:lnTo>
                  <a:lnTo>
                    <a:pt x="1023023" y="8128"/>
                  </a:lnTo>
                  <a:lnTo>
                    <a:pt x="1024420" y="4749"/>
                  </a:lnTo>
                  <a:close/>
                </a:path>
                <a:path w="5545455" h="9525">
                  <a:moveTo>
                    <a:pt x="1116672" y="4749"/>
                  </a:moveTo>
                  <a:lnTo>
                    <a:pt x="1115275" y="1384"/>
                  </a:lnTo>
                  <a:lnTo>
                    <a:pt x="1111910" y="0"/>
                  </a:lnTo>
                  <a:lnTo>
                    <a:pt x="1108532" y="1384"/>
                  </a:lnTo>
                  <a:lnTo>
                    <a:pt x="1107147" y="4749"/>
                  </a:lnTo>
                  <a:lnTo>
                    <a:pt x="1108532" y="8128"/>
                  </a:lnTo>
                  <a:lnTo>
                    <a:pt x="1111910" y="9512"/>
                  </a:lnTo>
                  <a:lnTo>
                    <a:pt x="1115275" y="8128"/>
                  </a:lnTo>
                  <a:lnTo>
                    <a:pt x="1116672" y="4749"/>
                  </a:lnTo>
                  <a:close/>
                </a:path>
                <a:path w="5545455" h="9525">
                  <a:moveTo>
                    <a:pt x="1208938" y="4749"/>
                  </a:moveTo>
                  <a:lnTo>
                    <a:pt x="1207541" y="1384"/>
                  </a:lnTo>
                  <a:lnTo>
                    <a:pt x="1204175" y="0"/>
                  </a:lnTo>
                  <a:lnTo>
                    <a:pt x="1200797" y="1384"/>
                  </a:lnTo>
                  <a:lnTo>
                    <a:pt x="1199413" y="4749"/>
                  </a:lnTo>
                  <a:lnTo>
                    <a:pt x="1200797" y="8128"/>
                  </a:lnTo>
                  <a:lnTo>
                    <a:pt x="1204175" y="9512"/>
                  </a:lnTo>
                  <a:lnTo>
                    <a:pt x="1207541" y="8128"/>
                  </a:lnTo>
                  <a:lnTo>
                    <a:pt x="1208938" y="4749"/>
                  </a:lnTo>
                  <a:close/>
                </a:path>
                <a:path w="5545455" h="9525">
                  <a:moveTo>
                    <a:pt x="1301203" y="4749"/>
                  </a:moveTo>
                  <a:lnTo>
                    <a:pt x="1299806" y="1384"/>
                  </a:lnTo>
                  <a:lnTo>
                    <a:pt x="1296441" y="0"/>
                  </a:lnTo>
                  <a:lnTo>
                    <a:pt x="1293063" y="1384"/>
                  </a:lnTo>
                  <a:lnTo>
                    <a:pt x="1291678" y="4749"/>
                  </a:lnTo>
                  <a:lnTo>
                    <a:pt x="1293063" y="8128"/>
                  </a:lnTo>
                  <a:lnTo>
                    <a:pt x="1296441" y="9512"/>
                  </a:lnTo>
                  <a:lnTo>
                    <a:pt x="1299806" y="8128"/>
                  </a:lnTo>
                  <a:lnTo>
                    <a:pt x="1301203" y="4749"/>
                  </a:lnTo>
                  <a:close/>
                </a:path>
                <a:path w="5545455" h="9525">
                  <a:moveTo>
                    <a:pt x="1393456" y="4749"/>
                  </a:moveTo>
                  <a:lnTo>
                    <a:pt x="1392059" y="1384"/>
                  </a:lnTo>
                  <a:lnTo>
                    <a:pt x="1388694" y="0"/>
                  </a:lnTo>
                  <a:lnTo>
                    <a:pt x="1385316" y="1384"/>
                  </a:lnTo>
                  <a:lnTo>
                    <a:pt x="1383931" y="4749"/>
                  </a:lnTo>
                  <a:lnTo>
                    <a:pt x="1385316" y="8128"/>
                  </a:lnTo>
                  <a:lnTo>
                    <a:pt x="1388694" y="9512"/>
                  </a:lnTo>
                  <a:lnTo>
                    <a:pt x="1392059" y="8128"/>
                  </a:lnTo>
                  <a:lnTo>
                    <a:pt x="1393456" y="4749"/>
                  </a:lnTo>
                  <a:close/>
                </a:path>
                <a:path w="5545455" h="9525">
                  <a:moveTo>
                    <a:pt x="1485722" y="4749"/>
                  </a:moveTo>
                  <a:lnTo>
                    <a:pt x="1484325" y="1384"/>
                  </a:lnTo>
                  <a:lnTo>
                    <a:pt x="1480959" y="0"/>
                  </a:lnTo>
                  <a:lnTo>
                    <a:pt x="1477581" y="1384"/>
                  </a:lnTo>
                  <a:lnTo>
                    <a:pt x="1476197" y="4749"/>
                  </a:lnTo>
                  <a:lnTo>
                    <a:pt x="1477581" y="8128"/>
                  </a:lnTo>
                  <a:lnTo>
                    <a:pt x="1480959" y="9512"/>
                  </a:lnTo>
                  <a:lnTo>
                    <a:pt x="1484325" y="8128"/>
                  </a:lnTo>
                  <a:lnTo>
                    <a:pt x="1485722" y="4749"/>
                  </a:lnTo>
                  <a:close/>
                </a:path>
                <a:path w="5545455" h="9525">
                  <a:moveTo>
                    <a:pt x="1577987" y="4749"/>
                  </a:moveTo>
                  <a:lnTo>
                    <a:pt x="1576590" y="1384"/>
                  </a:lnTo>
                  <a:lnTo>
                    <a:pt x="1573225" y="0"/>
                  </a:lnTo>
                  <a:lnTo>
                    <a:pt x="1569847" y="1384"/>
                  </a:lnTo>
                  <a:lnTo>
                    <a:pt x="1568462" y="4749"/>
                  </a:lnTo>
                  <a:lnTo>
                    <a:pt x="1569847" y="8128"/>
                  </a:lnTo>
                  <a:lnTo>
                    <a:pt x="1573225" y="9512"/>
                  </a:lnTo>
                  <a:lnTo>
                    <a:pt x="1576590" y="8128"/>
                  </a:lnTo>
                  <a:lnTo>
                    <a:pt x="1577987" y="4749"/>
                  </a:lnTo>
                  <a:close/>
                </a:path>
                <a:path w="5545455" h="9525">
                  <a:moveTo>
                    <a:pt x="1670253" y="4749"/>
                  </a:moveTo>
                  <a:lnTo>
                    <a:pt x="1668856" y="1384"/>
                  </a:lnTo>
                  <a:lnTo>
                    <a:pt x="1665490" y="0"/>
                  </a:lnTo>
                  <a:lnTo>
                    <a:pt x="1662112" y="1384"/>
                  </a:lnTo>
                  <a:lnTo>
                    <a:pt x="1660728" y="4749"/>
                  </a:lnTo>
                  <a:lnTo>
                    <a:pt x="1662112" y="8128"/>
                  </a:lnTo>
                  <a:lnTo>
                    <a:pt x="1665490" y="9512"/>
                  </a:lnTo>
                  <a:lnTo>
                    <a:pt x="1668856" y="8128"/>
                  </a:lnTo>
                  <a:lnTo>
                    <a:pt x="1670253" y="4749"/>
                  </a:lnTo>
                  <a:close/>
                </a:path>
                <a:path w="5545455" h="9525">
                  <a:moveTo>
                    <a:pt x="1762506" y="4749"/>
                  </a:moveTo>
                  <a:lnTo>
                    <a:pt x="1761109" y="1384"/>
                  </a:lnTo>
                  <a:lnTo>
                    <a:pt x="1757743" y="0"/>
                  </a:lnTo>
                  <a:lnTo>
                    <a:pt x="1754365" y="1384"/>
                  </a:lnTo>
                  <a:lnTo>
                    <a:pt x="1752981" y="4749"/>
                  </a:lnTo>
                  <a:lnTo>
                    <a:pt x="1754365" y="8128"/>
                  </a:lnTo>
                  <a:lnTo>
                    <a:pt x="1757743" y="9512"/>
                  </a:lnTo>
                  <a:lnTo>
                    <a:pt x="1761109" y="8128"/>
                  </a:lnTo>
                  <a:lnTo>
                    <a:pt x="1762506" y="4749"/>
                  </a:lnTo>
                  <a:close/>
                </a:path>
                <a:path w="5545455" h="9525">
                  <a:moveTo>
                    <a:pt x="1854771" y="4749"/>
                  </a:moveTo>
                  <a:lnTo>
                    <a:pt x="1853374" y="1384"/>
                  </a:lnTo>
                  <a:lnTo>
                    <a:pt x="1850009" y="0"/>
                  </a:lnTo>
                  <a:lnTo>
                    <a:pt x="1846630" y="1384"/>
                  </a:lnTo>
                  <a:lnTo>
                    <a:pt x="1845246" y="4749"/>
                  </a:lnTo>
                  <a:lnTo>
                    <a:pt x="1846630" y="8128"/>
                  </a:lnTo>
                  <a:lnTo>
                    <a:pt x="1850009" y="9512"/>
                  </a:lnTo>
                  <a:lnTo>
                    <a:pt x="1853374" y="8128"/>
                  </a:lnTo>
                  <a:lnTo>
                    <a:pt x="1854771" y="4749"/>
                  </a:lnTo>
                  <a:close/>
                </a:path>
                <a:path w="5545455" h="9525">
                  <a:moveTo>
                    <a:pt x="1947037" y="4749"/>
                  </a:moveTo>
                  <a:lnTo>
                    <a:pt x="1945640" y="1384"/>
                  </a:lnTo>
                  <a:lnTo>
                    <a:pt x="1942274" y="0"/>
                  </a:lnTo>
                  <a:lnTo>
                    <a:pt x="1938896" y="1384"/>
                  </a:lnTo>
                  <a:lnTo>
                    <a:pt x="1937512" y="4749"/>
                  </a:lnTo>
                  <a:lnTo>
                    <a:pt x="1938896" y="8128"/>
                  </a:lnTo>
                  <a:lnTo>
                    <a:pt x="1942274" y="9512"/>
                  </a:lnTo>
                  <a:lnTo>
                    <a:pt x="1945640" y="8128"/>
                  </a:lnTo>
                  <a:lnTo>
                    <a:pt x="1947037" y="4749"/>
                  </a:lnTo>
                  <a:close/>
                </a:path>
                <a:path w="5545455" h="9525">
                  <a:moveTo>
                    <a:pt x="2039302" y="4749"/>
                  </a:moveTo>
                  <a:lnTo>
                    <a:pt x="2037905" y="1384"/>
                  </a:lnTo>
                  <a:lnTo>
                    <a:pt x="2034540" y="0"/>
                  </a:lnTo>
                  <a:lnTo>
                    <a:pt x="2031161" y="1384"/>
                  </a:lnTo>
                  <a:lnTo>
                    <a:pt x="2029777" y="4749"/>
                  </a:lnTo>
                  <a:lnTo>
                    <a:pt x="2031161" y="8128"/>
                  </a:lnTo>
                  <a:lnTo>
                    <a:pt x="2034540" y="9512"/>
                  </a:lnTo>
                  <a:lnTo>
                    <a:pt x="2037905" y="8128"/>
                  </a:lnTo>
                  <a:lnTo>
                    <a:pt x="2039302" y="4749"/>
                  </a:lnTo>
                  <a:close/>
                </a:path>
                <a:path w="5545455" h="9525">
                  <a:moveTo>
                    <a:pt x="2131555" y="4749"/>
                  </a:moveTo>
                  <a:lnTo>
                    <a:pt x="2130158" y="1384"/>
                  </a:lnTo>
                  <a:lnTo>
                    <a:pt x="2126792" y="0"/>
                  </a:lnTo>
                  <a:lnTo>
                    <a:pt x="2123414" y="1384"/>
                  </a:lnTo>
                  <a:lnTo>
                    <a:pt x="2122030" y="4749"/>
                  </a:lnTo>
                  <a:lnTo>
                    <a:pt x="2123414" y="8128"/>
                  </a:lnTo>
                  <a:lnTo>
                    <a:pt x="2126792" y="9512"/>
                  </a:lnTo>
                  <a:lnTo>
                    <a:pt x="2130158" y="8128"/>
                  </a:lnTo>
                  <a:lnTo>
                    <a:pt x="2131555" y="4749"/>
                  </a:lnTo>
                  <a:close/>
                </a:path>
                <a:path w="5545455" h="9525">
                  <a:moveTo>
                    <a:pt x="2223820" y="4749"/>
                  </a:moveTo>
                  <a:lnTo>
                    <a:pt x="2222423" y="1384"/>
                  </a:lnTo>
                  <a:lnTo>
                    <a:pt x="2219058" y="0"/>
                  </a:lnTo>
                  <a:lnTo>
                    <a:pt x="2215680" y="1384"/>
                  </a:lnTo>
                  <a:lnTo>
                    <a:pt x="2214295" y="4749"/>
                  </a:lnTo>
                  <a:lnTo>
                    <a:pt x="2215680" y="8128"/>
                  </a:lnTo>
                  <a:lnTo>
                    <a:pt x="2219058" y="9512"/>
                  </a:lnTo>
                  <a:lnTo>
                    <a:pt x="2222423" y="8128"/>
                  </a:lnTo>
                  <a:lnTo>
                    <a:pt x="2223820" y="4749"/>
                  </a:lnTo>
                  <a:close/>
                </a:path>
                <a:path w="5545455" h="9525">
                  <a:moveTo>
                    <a:pt x="2316086" y="4749"/>
                  </a:moveTo>
                  <a:lnTo>
                    <a:pt x="2314689" y="1384"/>
                  </a:lnTo>
                  <a:lnTo>
                    <a:pt x="2311323" y="0"/>
                  </a:lnTo>
                  <a:lnTo>
                    <a:pt x="2307945" y="1384"/>
                  </a:lnTo>
                  <a:lnTo>
                    <a:pt x="2306561" y="4749"/>
                  </a:lnTo>
                  <a:lnTo>
                    <a:pt x="2307945" y="8128"/>
                  </a:lnTo>
                  <a:lnTo>
                    <a:pt x="2311323" y="9512"/>
                  </a:lnTo>
                  <a:lnTo>
                    <a:pt x="2314689" y="8128"/>
                  </a:lnTo>
                  <a:lnTo>
                    <a:pt x="2316086" y="4749"/>
                  </a:lnTo>
                  <a:close/>
                </a:path>
                <a:path w="5545455" h="9525">
                  <a:moveTo>
                    <a:pt x="2408339" y="4749"/>
                  </a:moveTo>
                  <a:lnTo>
                    <a:pt x="2406942" y="1384"/>
                  </a:lnTo>
                  <a:lnTo>
                    <a:pt x="2403576" y="0"/>
                  </a:lnTo>
                  <a:lnTo>
                    <a:pt x="2400198" y="1384"/>
                  </a:lnTo>
                  <a:lnTo>
                    <a:pt x="2398814" y="4749"/>
                  </a:lnTo>
                  <a:lnTo>
                    <a:pt x="2400198" y="8128"/>
                  </a:lnTo>
                  <a:lnTo>
                    <a:pt x="2403576" y="9512"/>
                  </a:lnTo>
                  <a:lnTo>
                    <a:pt x="2406942" y="8128"/>
                  </a:lnTo>
                  <a:lnTo>
                    <a:pt x="2408339" y="4749"/>
                  </a:lnTo>
                  <a:close/>
                </a:path>
                <a:path w="5545455" h="9525">
                  <a:moveTo>
                    <a:pt x="2500604" y="4749"/>
                  </a:moveTo>
                  <a:lnTo>
                    <a:pt x="2499207" y="1384"/>
                  </a:lnTo>
                  <a:lnTo>
                    <a:pt x="2495842" y="0"/>
                  </a:lnTo>
                  <a:lnTo>
                    <a:pt x="2492464" y="1384"/>
                  </a:lnTo>
                  <a:lnTo>
                    <a:pt x="2491079" y="4749"/>
                  </a:lnTo>
                  <a:lnTo>
                    <a:pt x="2492464" y="8128"/>
                  </a:lnTo>
                  <a:lnTo>
                    <a:pt x="2495842" y="9512"/>
                  </a:lnTo>
                  <a:lnTo>
                    <a:pt x="2499207" y="8128"/>
                  </a:lnTo>
                  <a:lnTo>
                    <a:pt x="2500604" y="4749"/>
                  </a:lnTo>
                  <a:close/>
                </a:path>
                <a:path w="5545455" h="9525">
                  <a:moveTo>
                    <a:pt x="2592870" y="4749"/>
                  </a:moveTo>
                  <a:lnTo>
                    <a:pt x="2591473" y="1384"/>
                  </a:lnTo>
                  <a:lnTo>
                    <a:pt x="2588107" y="0"/>
                  </a:lnTo>
                  <a:lnTo>
                    <a:pt x="2584729" y="1384"/>
                  </a:lnTo>
                  <a:lnTo>
                    <a:pt x="2583345" y="4749"/>
                  </a:lnTo>
                  <a:lnTo>
                    <a:pt x="2584729" y="8128"/>
                  </a:lnTo>
                  <a:lnTo>
                    <a:pt x="2588107" y="9512"/>
                  </a:lnTo>
                  <a:lnTo>
                    <a:pt x="2591473" y="8128"/>
                  </a:lnTo>
                  <a:lnTo>
                    <a:pt x="2592870" y="4749"/>
                  </a:lnTo>
                  <a:close/>
                </a:path>
                <a:path w="5545455" h="9525">
                  <a:moveTo>
                    <a:pt x="2685135" y="4749"/>
                  </a:moveTo>
                  <a:lnTo>
                    <a:pt x="2683738" y="1384"/>
                  </a:lnTo>
                  <a:lnTo>
                    <a:pt x="2680373" y="0"/>
                  </a:lnTo>
                  <a:lnTo>
                    <a:pt x="2676995" y="1384"/>
                  </a:lnTo>
                  <a:lnTo>
                    <a:pt x="2675610" y="4749"/>
                  </a:lnTo>
                  <a:lnTo>
                    <a:pt x="2676995" y="8128"/>
                  </a:lnTo>
                  <a:lnTo>
                    <a:pt x="2680373" y="9512"/>
                  </a:lnTo>
                  <a:lnTo>
                    <a:pt x="2683738" y="8128"/>
                  </a:lnTo>
                  <a:lnTo>
                    <a:pt x="2685135" y="4749"/>
                  </a:lnTo>
                  <a:close/>
                </a:path>
                <a:path w="5545455" h="9525">
                  <a:moveTo>
                    <a:pt x="2777388" y="4749"/>
                  </a:moveTo>
                  <a:lnTo>
                    <a:pt x="2775991" y="1384"/>
                  </a:lnTo>
                  <a:lnTo>
                    <a:pt x="2772626" y="0"/>
                  </a:lnTo>
                  <a:lnTo>
                    <a:pt x="2769247" y="1384"/>
                  </a:lnTo>
                  <a:lnTo>
                    <a:pt x="2767863" y="4749"/>
                  </a:lnTo>
                  <a:lnTo>
                    <a:pt x="2769247" y="8128"/>
                  </a:lnTo>
                  <a:lnTo>
                    <a:pt x="2772626" y="9512"/>
                  </a:lnTo>
                  <a:lnTo>
                    <a:pt x="2775991" y="8128"/>
                  </a:lnTo>
                  <a:lnTo>
                    <a:pt x="2777388" y="4749"/>
                  </a:lnTo>
                  <a:close/>
                </a:path>
                <a:path w="5545455" h="9525">
                  <a:moveTo>
                    <a:pt x="2869654" y="4749"/>
                  </a:moveTo>
                  <a:lnTo>
                    <a:pt x="2868257" y="1384"/>
                  </a:lnTo>
                  <a:lnTo>
                    <a:pt x="2864891" y="0"/>
                  </a:lnTo>
                  <a:lnTo>
                    <a:pt x="2861513" y="1384"/>
                  </a:lnTo>
                  <a:lnTo>
                    <a:pt x="2860129" y="4749"/>
                  </a:lnTo>
                  <a:lnTo>
                    <a:pt x="2861513" y="8128"/>
                  </a:lnTo>
                  <a:lnTo>
                    <a:pt x="2864891" y="9512"/>
                  </a:lnTo>
                  <a:lnTo>
                    <a:pt x="2868257" y="8128"/>
                  </a:lnTo>
                  <a:lnTo>
                    <a:pt x="2869654" y="4749"/>
                  </a:lnTo>
                  <a:close/>
                </a:path>
                <a:path w="5545455" h="9525">
                  <a:moveTo>
                    <a:pt x="2961919" y="4749"/>
                  </a:moveTo>
                  <a:lnTo>
                    <a:pt x="2960522" y="1384"/>
                  </a:lnTo>
                  <a:lnTo>
                    <a:pt x="2957157" y="0"/>
                  </a:lnTo>
                  <a:lnTo>
                    <a:pt x="2953778" y="1384"/>
                  </a:lnTo>
                  <a:lnTo>
                    <a:pt x="2952394" y="4749"/>
                  </a:lnTo>
                  <a:lnTo>
                    <a:pt x="2953778" y="8128"/>
                  </a:lnTo>
                  <a:lnTo>
                    <a:pt x="2957157" y="9512"/>
                  </a:lnTo>
                  <a:lnTo>
                    <a:pt x="2960522" y="8128"/>
                  </a:lnTo>
                  <a:lnTo>
                    <a:pt x="2961919" y="4749"/>
                  </a:lnTo>
                  <a:close/>
                </a:path>
                <a:path w="5545455" h="9525">
                  <a:moveTo>
                    <a:pt x="3054185" y="4749"/>
                  </a:moveTo>
                  <a:lnTo>
                    <a:pt x="3052788" y="1384"/>
                  </a:lnTo>
                  <a:lnTo>
                    <a:pt x="3049422" y="0"/>
                  </a:lnTo>
                  <a:lnTo>
                    <a:pt x="3046044" y="1384"/>
                  </a:lnTo>
                  <a:lnTo>
                    <a:pt x="3044660" y="4749"/>
                  </a:lnTo>
                  <a:lnTo>
                    <a:pt x="3046044" y="8128"/>
                  </a:lnTo>
                  <a:lnTo>
                    <a:pt x="3049422" y="9512"/>
                  </a:lnTo>
                  <a:lnTo>
                    <a:pt x="3052788" y="8128"/>
                  </a:lnTo>
                  <a:lnTo>
                    <a:pt x="3054185" y="4749"/>
                  </a:lnTo>
                  <a:close/>
                </a:path>
                <a:path w="5545455" h="9525">
                  <a:moveTo>
                    <a:pt x="3146437" y="4749"/>
                  </a:moveTo>
                  <a:lnTo>
                    <a:pt x="3145040" y="1384"/>
                  </a:lnTo>
                  <a:lnTo>
                    <a:pt x="3141675" y="0"/>
                  </a:lnTo>
                  <a:lnTo>
                    <a:pt x="3138297" y="1384"/>
                  </a:lnTo>
                  <a:lnTo>
                    <a:pt x="3136912" y="4749"/>
                  </a:lnTo>
                  <a:lnTo>
                    <a:pt x="3138297" y="8128"/>
                  </a:lnTo>
                  <a:lnTo>
                    <a:pt x="3141675" y="9512"/>
                  </a:lnTo>
                  <a:lnTo>
                    <a:pt x="3145040" y="8128"/>
                  </a:lnTo>
                  <a:lnTo>
                    <a:pt x="3146437" y="4749"/>
                  </a:lnTo>
                  <a:close/>
                </a:path>
                <a:path w="5545455" h="9525">
                  <a:moveTo>
                    <a:pt x="3238703" y="4749"/>
                  </a:moveTo>
                  <a:lnTo>
                    <a:pt x="3237306" y="1384"/>
                  </a:lnTo>
                  <a:lnTo>
                    <a:pt x="3233940" y="0"/>
                  </a:lnTo>
                  <a:lnTo>
                    <a:pt x="3230562" y="1384"/>
                  </a:lnTo>
                  <a:lnTo>
                    <a:pt x="3229178" y="4749"/>
                  </a:lnTo>
                  <a:lnTo>
                    <a:pt x="3230562" y="8128"/>
                  </a:lnTo>
                  <a:lnTo>
                    <a:pt x="3233940" y="9512"/>
                  </a:lnTo>
                  <a:lnTo>
                    <a:pt x="3237306" y="8128"/>
                  </a:lnTo>
                  <a:lnTo>
                    <a:pt x="3238703" y="4749"/>
                  </a:lnTo>
                  <a:close/>
                </a:path>
                <a:path w="5545455" h="9525">
                  <a:moveTo>
                    <a:pt x="3330968" y="4749"/>
                  </a:moveTo>
                  <a:lnTo>
                    <a:pt x="3329571" y="1384"/>
                  </a:lnTo>
                  <a:lnTo>
                    <a:pt x="3326206" y="0"/>
                  </a:lnTo>
                  <a:lnTo>
                    <a:pt x="3322828" y="1384"/>
                  </a:lnTo>
                  <a:lnTo>
                    <a:pt x="3321443" y="4749"/>
                  </a:lnTo>
                  <a:lnTo>
                    <a:pt x="3322828" y="8128"/>
                  </a:lnTo>
                  <a:lnTo>
                    <a:pt x="3326206" y="9512"/>
                  </a:lnTo>
                  <a:lnTo>
                    <a:pt x="3329571" y="8128"/>
                  </a:lnTo>
                  <a:lnTo>
                    <a:pt x="3330968" y="4749"/>
                  </a:lnTo>
                  <a:close/>
                </a:path>
                <a:path w="5545455" h="9525">
                  <a:moveTo>
                    <a:pt x="3423221" y="4749"/>
                  </a:moveTo>
                  <a:lnTo>
                    <a:pt x="3421824" y="1384"/>
                  </a:lnTo>
                  <a:lnTo>
                    <a:pt x="3418459" y="0"/>
                  </a:lnTo>
                  <a:lnTo>
                    <a:pt x="3415080" y="1384"/>
                  </a:lnTo>
                  <a:lnTo>
                    <a:pt x="3413696" y="4749"/>
                  </a:lnTo>
                  <a:lnTo>
                    <a:pt x="3415080" y="8128"/>
                  </a:lnTo>
                  <a:lnTo>
                    <a:pt x="3418459" y="9512"/>
                  </a:lnTo>
                  <a:lnTo>
                    <a:pt x="3421824" y="8128"/>
                  </a:lnTo>
                  <a:lnTo>
                    <a:pt x="3423221" y="4749"/>
                  </a:lnTo>
                  <a:close/>
                </a:path>
                <a:path w="5545455" h="9525">
                  <a:moveTo>
                    <a:pt x="3515487" y="4749"/>
                  </a:moveTo>
                  <a:lnTo>
                    <a:pt x="3514090" y="1384"/>
                  </a:lnTo>
                  <a:lnTo>
                    <a:pt x="3510724" y="0"/>
                  </a:lnTo>
                  <a:lnTo>
                    <a:pt x="3507346" y="1384"/>
                  </a:lnTo>
                  <a:lnTo>
                    <a:pt x="3505962" y="4749"/>
                  </a:lnTo>
                  <a:lnTo>
                    <a:pt x="3507346" y="8128"/>
                  </a:lnTo>
                  <a:lnTo>
                    <a:pt x="3510724" y="9512"/>
                  </a:lnTo>
                  <a:lnTo>
                    <a:pt x="3514090" y="8128"/>
                  </a:lnTo>
                  <a:lnTo>
                    <a:pt x="3515487" y="4749"/>
                  </a:lnTo>
                  <a:close/>
                </a:path>
                <a:path w="5545455" h="9525">
                  <a:moveTo>
                    <a:pt x="3607752" y="4749"/>
                  </a:moveTo>
                  <a:lnTo>
                    <a:pt x="3606355" y="1384"/>
                  </a:lnTo>
                  <a:lnTo>
                    <a:pt x="3602990" y="0"/>
                  </a:lnTo>
                  <a:lnTo>
                    <a:pt x="3599611" y="1384"/>
                  </a:lnTo>
                  <a:lnTo>
                    <a:pt x="3598227" y="4749"/>
                  </a:lnTo>
                  <a:lnTo>
                    <a:pt x="3599611" y="8128"/>
                  </a:lnTo>
                  <a:lnTo>
                    <a:pt x="3602990" y="9512"/>
                  </a:lnTo>
                  <a:lnTo>
                    <a:pt x="3606355" y="8128"/>
                  </a:lnTo>
                  <a:lnTo>
                    <a:pt x="3607752" y="4749"/>
                  </a:lnTo>
                  <a:close/>
                </a:path>
                <a:path w="5545455" h="9525">
                  <a:moveTo>
                    <a:pt x="3700018" y="4749"/>
                  </a:moveTo>
                  <a:lnTo>
                    <a:pt x="3698621" y="1384"/>
                  </a:lnTo>
                  <a:lnTo>
                    <a:pt x="3695255" y="0"/>
                  </a:lnTo>
                  <a:lnTo>
                    <a:pt x="3691877" y="1384"/>
                  </a:lnTo>
                  <a:lnTo>
                    <a:pt x="3690493" y="4749"/>
                  </a:lnTo>
                  <a:lnTo>
                    <a:pt x="3691877" y="8128"/>
                  </a:lnTo>
                  <a:lnTo>
                    <a:pt x="3695255" y="9512"/>
                  </a:lnTo>
                  <a:lnTo>
                    <a:pt x="3698621" y="8128"/>
                  </a:lnTo>
                  <a:lnTo>
                    <a:pt x="3700018" y="4749"/>
                  </a:lnTo>
                  <a:close/>
                </a:path>
                <a:path w="5545455" h="9525">
                  <a:moveTo>
                    <a:pt x="3792270" y="4749"/>
                  </a:moveTo>
                  <a:lnTo>
                    <a:pt x="3790873" y="1384"/>
                  </a:lnTo>
                  <a:lnTo>
                    <a:pt x="3787508" y="0"/>
                  </a:lnTo>
                  <a:lnTo>
                    <a:pt x="3784130" y="1384"/>
                  </a:lnTo>
                  <a:lnTo>
                    <a:pt x="3782745" y="4749"/>
                  </a:lnTo>
                  <a:lnTo>
                    <a:pt x="3784130" y="8128"/>
                  </a:lnTo>
                  <a:lnTo>
                    <a:pt x="3787508" y="9512"/>
                  </a:lnTo>
                  <a:lnTo>
                    <a:pt x="3790873" y="8128"/>
                  </a:lnTo>
                  <a:lnTo>
                    <a:pt x="3792270" y="4749"/>
                  </a:lnTo>
                  <a:close/>
                </a:path>
                <a:path w="5545455" h="9525">
                  <a:moveTo>
                    <a:pt x="3884536" y="4749"/>
                  </a:moveTo>
                  <a:lnTo>
                    <a:pt x="3883139" y="1384"/>
                  </a:lnTo>
                  <a:lnTo>
                    <a:pt x="3879773" y="0"/>
                  </a:lnTo>
                  <a:lnTo>
                    <a:pt x="3876395" y="1384"/>
                  </a:lnTo>
                  <a:lnTo>
                    <a:pt x="3875011" y="4749"/>
                  </a:lnTo>
                  <a:lnTo>
                    <a:pt x="3876395" y="8128"/>
                  </a:lnTo>
                  <a:lnTo>
                    <a:pt x="3879773" y="9512"/>
                  </a:lnTo>
                  <a:lnTo>
                    <a:pt x="3883139" y="8128"/>
                  </a:lnTo>
                  <a:lnTo>
                    <a:pt x="3884536" y="4749"/>
                  </a:lnTo>
                  <a:close/>
                </a:path>
                <a:path w="5545455" h="9525">
                  <a:moveTo>
                    <a:pt x="3976801" y="4749"/>
                  </a:moveTo>
                  <a:lnTo>
                    <a:pt x="3975404" y="1384"/>
                  </a:lnTo>
                  <a:lnTo>
                    <a:pt x="3972039" y="0"/>
                  </a:lnTo>
                  <a:lnTo>
                    <a:pt x="3968661" y="1384"/>
                  </a:lnTo>
                  <a:lnTo>
                    <a:pt x="3967276" y="4749"/>
                  </a:lnTo>
                  <a:lnTo>
                    <a:pt x="3968661" y="8128"/>
                  </a:lnTo>
                  <a:lnTo>
                    <a:pt x="3972039" y="9512"/>
                  </a:lnTo>
                  <a:lnTo>
                    <a:pt x="3975404" y="8128"/>
                  </a:lnTo>
                  <a:lnTo>
                    <a:pt x="3976801" y="4749"/>
                  </a:lnTo>
                  <a:close/>
                </a:path>
                <a:path w="5545455" h="9525">
                  <a:moveTo>
                    <a:pt x="4069054" y="4749"/>
                  </a:moveTo>
                  <a:lnTo>
                    <a:pt x="4067657" y="1384"/>
                  </a:lnTo>
                  <a:lnTo>
                    <a:pt x="4064292" y="0"/>
                  </a:lnTo>
                  <a:lnTo>
                    <a:pt x="4060914" y="1384"/>
                  </a:lnTo>
                  <a:lnTo>
                    <a:pt x="4059529" y="4749"/>
                  </a:lnTo>
                  <a:lnTo>
                    <a:pt x="4060914" y="8128"/>
                  </a:lnTo>
                  <a:lnTo>
                    <a:pt x="4064292" y="9512"/>
                  </a:lnTo>
                  <a:lnTo>
                    <a:pt x="4067657" y="8128"/>
                  </a:lnTo>
                  <a:lnTo>
                    <a:pt x="4069054" y="4749"/>
                  </a:lnTo>
                  <a:close/>
                </a:path>
                <a:path w="5545455" h="9525">
                  <a:moveTo>
                    <a:pt x="4161320" y="4749"/>
                  </a:moveTo>
                  <a:lnTo>
                    <a:pt x="4159923" y="1384"/>
                  </a:lnTo>
                  <a:lnTo>
                    <a:pt x="4156557" y="0"/>
                  </a:lnTo>
                  <a:lnTo>
                    <a:pt x="4153179" y="1384"/>
                  </a:lnTo>
                  <a:lnTo>
                    <a:pt x="4151795" y="4749"/>
                  </a:lnTo>
                  <a:lnTo>
                    <a:pt x="4153179" y="8128"/>
                  </a:lnTo>
                  <a:lnTo>
                    <a:pt x="4156557" y="9512"/>
                  </a:lnTo>
                  <a:lnTo>
                    <a:pt x="4159923" y="8128"/>
                  </a:lnTo>
                  <a:lnTo>
                    <a:pt x="4161320" y="4749"/>
                  </a:lnTo>
                  <a:close/>
                </a:path>
                <a:path w="5545455" h="9525">
                  <a:moveTo>
                    <a:pt x="4253585" y="4749"/>
                  </a:moveTo>
                  <a:lnTo>
                    <a:pt x="4252188" y="1384"/>
                  </a:lnTo>
                  <a:lnTo>
                    <a:pt x="4248823" y="0"/>
                  </a:lnTo>
                  <a:lnTo>
                    <a:pt x="4245445" y="1384"/>
                  </a:lnTo>
                  <a:lnTo>
                    <a:pt x="4244060" y="4749"/>
                  </a:lnTo>
                  <a:lnTo>
                    <a:pt x="4245445" y="8128"/>
                  </a:lnTo>
                  <a:lnTo>
                    <a:pt x="4248823" y="9512"/>
                  </a:lnTo>
                  <a:lnTo>
                    <a:pt x="4252188" y="8128"/>
                  </a:lnTo>
                  <a:lnTo>
                    <a:pt x="4253585" y="4749"/>
                  </a:lnTo>
                  <a:close/>
                </a:path>
                <a:path w="5545455" h="9525">
                  <a:moveTo>
                    <a:pt x="4345851" y="4749"/>
                  </a:moveTo>
                  <a:lnTo>
                    <a:pt x="4344454" y="1384"/>
                  </a:lnTo>
                  <a:lnTo>
                    <a:pt x="4341088" y="0"/>
                  </a:lnTo>
                  <a:lnTo>
                    <a:pt x="4337710" y="1384"/>
                  </a:lnTo>
                  <a:lnTo>
                    <a:pt x="4336326" y="4749"/>
                  </a:lnTo>
                  <a:lnTo>
                    <a:pt x="4337710" y="8128"/>
                  </a:lnTo>
                  <a:lnTo>
                    <a:pt x="4341088" y="9512"/>
                  </a:lnTo>
                  <a:lnTo>
                    <a:pt x="4344454" y="8128"/>
                  </a:lnTo>
                  <a:lnTo>
                    <a:pt x="4345851" y="4749"/>
                  </a:lnTo>
                  <a:close/>
                </a:path>
                <a:path w="5545455" h="9525">
                  <a:moveTo>
                    <a:pt x="4438104" y="4749"/>
                  </a:moveTo>
                  <a:lnTo>
                    <a:pt x="4436707" y="1384"/>
                  </a:lnTo>
                  <a:lnTo>
                    <a:pt x="4433341" y="0"/>
                  </a:lnTo>
                  <a:lnTo>
                    <a:pt x="4429963" y="1384"/>
                  </a:lnTo>
                  <a:lnTo>
                    <a:pt x="4428579" y="4749"/>
                  </a:lnTo>
                  <a:lnTo>
                    <a:pt x="4429963" y="8128"/>
                  </a:lnTo>
                  <a:lnTo>
                    <a:pt x="4433341" y="9512"/>
                  </a:lnTo>
                  <a:lnTo>
                    <a:pt x="4436707" y="8128"/>
                  </a:lnTo>
                  <a:lnTo>
                    <a:pt x="4438104" y="4749"/>
                  </a:lnTo>
                  <a:close/>
                </a:path>
                <a:path w="5545455" h="9525">
                  <a:moveTo>
                    <a:pt x="4530369" y="4749"/>
                  </a:moveTo>
                  <a:lnTo>
                    <a:pt x="4528972" y="1384"/>
                  </a:lnTo>
                  <a:lnTo>
                    <a:pt x="4525607" y="0"/>
                  </a:lnTo>
                  <a:lnTo>
                    <a:pt x="4522228" y="1384"/>
                  </a:lnTo>
                  <a:lnTo>
                    <a:pt x="4520844" y="4749"/>
                  </a:lnTo>
                  <a:lnTo>
                    <a:pt x="4522228" y="8128"/>
                  </a:lnTo>
                  <a:lnTo>
                    <a:pt x="4525607" y="9512"/>
                  </a:lnTo>
                  <a:lnTo>
                    <a:pt x="4528972" y="8128"/>
                  </a:lnTo>
                  <a:lnTo>
                    <a:pt x="4530369" y="4749"/>
                  </a:lnTo>
                  <a:close/>
                </a:path>
                <a:path w="5545455" h="9525">
                  <a:moveTo>
                    <a:pt x="4622635" y="4749"/>
                  </a:moveTo>
                  <a:lnTo>
                    <a:pt x="4621238" y="1384"/>
                  </a:lnTo>
                  <a:lnTo>
                    <a:pt x="4617872" y="0"/>
                  </a:lnTo>
                  <a:lnTo>
                    <a:pt x="4614494" y="1384"/>
                  </a:lnTo>
                  <a:lnTo>
                    <a:pt x="4613110" y="4749"/>
                  </a:lnTo>
                  <a:lnTo>
                    <a:pt x="4614494" y="8128"/>
                  </a:lnTo>
                  <a:lnTo>
                    <a:pt x="4617872" y="9512"/>
                  </a:lnTo>
                  <a:lnTo>
                    <a:pt x="4621238" y="8128"/>
                  </a:lnTo>
                  <a:lnTo>
                    <a:pt x="4622635" y="4749"/>
                  </a:lnTo>
                  <a:close/>
                </a:path>
                <a:path w="5545455" h="9525">
                  <a:moveTo>
                    <a:pt x="4714900" y="4749"/>
                  </a:moveTo>
                  <a:lnTo>
                    <a:pt x="4713503" y="1384"/>
                  </a:lnTo>
                  <a:lnTo>
                    <a:pt x="4710138" y="0"/>
                  </a:lnTo>
                  <a:lnTo>
                    <a:pt x="4706759" y="1384"/>
                  </a:lnTo>
                  <a:lnTo>
                    <a:pt x="4705375" y="4749"/>
                  </a:lnTo>
                  <a:lnTo>
                    <a:pt x="4706759" y="8128"/>
                  </a:lnTo>
                  <a:lnTo>
                    <a:pt x="4710138" y="9512"/>
                  </a:lnTo>
                  <a:lnTo>
                    <a:pt x="4713503" y="8128"/>
                  </a:lnTo>
                  <a:lnTo>
                    <a:pt x="4714900" y="4749"/>
                  </a:lnTo>
                  <a:close/>
                </a:path>
                <a:path w="5545455" h="9525">
                  <a:moveTo>
                    <a:pt x="4807153" y="4749"/>
                  </a:moveTo>
                  <a:lnTo>
                    <a:pt x="4805756" y="1384"/>
                  </a:lnTo>
                  <a:lnTo>
                    <a:pt x="4802390" y="0"/>
                  </a:lnTo>
                  <a:lnTo>
                    <a:pt x="4799012" y="1384"/>
                  </a:lnTo>
                  <a:lnTo>
                    <a:pt x="4797628" y="4749"/>
                  </a:lnTo>
                  <a:lnTo>
                    <a:pt x="4799012" y="8128"/>
                  </a:lnTo>
                  <a:lnTo>
                    <a:pt x="4802390" y="9512"/>
                  </a:lnTo>
                  <a:lnTo>
                    <a:pt x="4805756" y="8128"/>
                  </a:lnTo>
                  <a:lnTo>
                    <a:pt x="4807153" y="4749"/>
                  </a:lnTo>
                  <a:close/>
                </a:path>
                <a:path w="5545455" h="9525">
                  <a:moveTo>
                    <a:pt x="4899418" y="4749"/>
                  </a:moveTo>
                  <a:lnTo>
                    <a:pt x="4898021" y="1384"/>
                  </a:lnTo>
                  <a:lnTo>
                    <a:pt x="4894656" y="0"/>
                  </a:lnTo>
                  <a:lnTo>
                    <a:pt x="4891278" y="1384"/>
                  </a:lnTo>
                  <a:lnTo>
                    <a:pt x="4889893" y="4749"/>
                  </a:lnTo>
                  <a:lnTo>
                    <a:pt x="4891278" y="8128"/>
                  </a:lnTo>
                  <a:lnTo>
                    <a:pt x="4894656" y="9512"/>
                  </a:lnTo>
                  <a:lnTo>
                    <a:pt x="4898021" y="8128"/>
                  </a:lnTo>
                  <a:lnTo>
                    <a:pt x="4899418" y="4749"/>
                  </a:lnTo>
                  <a:close/>
                </a:path>
                <a:path w="5545455" h="9525">
                  <a:moveTo>
                    <a:pt x="4991684" y="4749"/>
                  </a:moveTo>
                  <a:lnTo>
                    <a:pt x="4990287" y="1384"/>
                  </a:lnTo>
                  <a:lnTo>
                    <a:pt x="4986921" y="0"/>
                  </a:lnTo>
                  <a:lnTo>
                    <a:pt x="4983543" y="1384"/>
                  </a:lnTo>
                  <a:lnTo>
                    <a:pt x="4982159" y="4749"/>
                  </a:lnTo>
                  <a:lnTo>
                    <a:pt x="4983543" y="8128"/>
                  </a:lnTo>
                  <a:lnTo>
                    <a:pt x="4986921" y="9512"/>
                  </a:lnTo>
                  <a:lnTo>
                    <a:pt x="4990287" y="8128"/>
                  </a:lnTo>
                  <a:lnTo>
                    <a:pt x="4991684" y="4749"/>
                  </a:lnTo>
                  <a:close/>
                </a:path>
                <a:path w="5545455" h="9525">
                  <a:moveTo>
                    <a:pt x="5083949" y="4749"/>
                  </a:moveTo>
                  <a:lnTo>
                    <a:pt x="5082552" y="1384"/>
                  </a:lnTo>
                  <a:lnTo>
                    <a:pt x="5079187" y="0"/>
                  </a:lnTo>
                  <a:lnTo>
                    <a:pt x="5075809" y="1384"/>
                  </a:lnTo>
                  <a:lnTo>
                    <a:pt x="5074424" y="4749"/>
                  </a:lnTo>
                  <a:lnTo>
                    <a:pt x="5075809" y="8128"/>
                  </a:lnTo>
                  <a:lnTo>
                    <a:pt x="5079187" y="9512"/>
                  </a:lnTo>
                  <a:lnTo>
                    <a:pt x="5082552" y="8128"/>
                  </a:lnTo>
                  <a:lnTo>
                    <a:pt x="5083949" y="4749"/>
                  </a:lnTo>
                  <a:close/>
                </a:path>
                <a:path w="5545455" h="9525">
                  <a:moveTo>
                    <a:pt x="5176202" y="4749"/>
                  </a:moveTo>
                  <a:lnTo>
                    <a:pt x="5174805" y="1384"/>
                  </a:lnTo>
                  <a:lnTo>
                    <a:pt x="5171440" y="0"/>
                  </a:lnTo>
                  <a:lnTo>
                    <a:pt x="5168062" y="1384"/>
                  </a:lnTo>
                  <a:lnTo>
                    <a:pt x="5166677" y="4749"/>
                  </a:lnTo>
                  <a:lnTo>
                    <a:pt x="5168062" y="8128"/>
                  </a:lnTo>
                  <a:lnTo>
                    <a:pt x="5171440" y="9512"/>
                  </a:lnTo>
                  <a:lnTo>
                    <a:pt x="5174805" y="8128"/>
                  </a:lnTo>
                  <a:lnTo>
                    <a:pt x="5176202" y="4749"/>
                  </a:lnTo>
                  <a:close/>
                </a:path>
                <a:path w="5545455" h="9525">
                  <a:moveTo>
                    <a:pt x="5268468" y="4749"/>
                  </a:moveTo>
                  <a:lnTo>
                    <a:pt x="5267071" y="1384"/>
                  </a:lnTo>
                  <a:lnTo>
                    <a:pt x="5263705" y="0"/>
                  </a:lnTo>
                  <a:lnTo>
                    <a:pt x="5260327" y="1384"/>
                  </a:lnTo>
                  <a:lnTo>
                    <a:pt x="5258943" y="4749"/>
                  </a:lnTo>
                  <a:lnTo>
                    <a:pt x="5260327" y="8128"/>
                  </a:lnTo>
                  <a:lnTo>
                    <a:pt x="5263705" y="9512"/>
                  </a:lnTo>
                  <a:lnTo>
                    <a:pt x="5267071" y="8128"/>
                  </a:lnTo>
                  <a:lnTo>
                    <a:pt x="5268468" y="4749"/>
                  </a:lnTo>
                  <a:close/>
                </a:path>
                <a:path w="5545455" h="9525">
                  <a:moveTo>
                    <a:pt x="5360733" y="4749"/>
                  </a:moveTo>
                  <a:lnTo>
                    <a:pt x="5359336" y="1384"/>
                  </a:lnTo>
                  <a:lnTo>
                    <a:pt x="5355971" y="0"/>
                  </a:lnTo>
                  <a:lnTo>
                    <a:pt x="5352593" y="1384"/>
                  </a:lnTo>
                  <a:lnTo>
                    <a:pt x="5351208" y="4749"/>
                  </a:lnTo>
                  <a:lnTo>
                    <a:pt x="5352593" y="8128"/>
                  </a:lnTo>
                  <a:lnTo>
                    <a:pt x="5355971" y="9512"/>
                  </a:lnTo>
                  <a:lnTo>
                    <a:pt x="5359336" y="8128"/>
                  </a:lnTo>
                  <a:lnTo>
                    <a:pt x="5360733" y="4749"/>
                  </a:lnTo>
                  <a:close/>
                </a:path>
                <a:path w="5545455" h="9525">
                  <a:moveTo>
                    <a:pt x="5452986" y="4749"/>
                  </a:moveTo>
                  <a:lnTo>
                    <a:pt x="5451589" y="1384"/>
                  </a:lnTo>
                  <a:lnTo>
                    <a:pt x="5448224" y="0"/>
                  </a:lnTo>
                  <a:lnTo>
                    <a:pt x="5444845" y="1384"/>
                  </a:lnTo>
                  <a:lnTo>
                    <a:pt x="5443461" y="4749"/>
                  </a:lnTo>
                  <a:lnTo>
                    <a:pt x="5444845" y="8128"/>
                  </a:lnTo>
                  <a:lnTo>
                    <a:pt x="5448224" y="9512"/>
                  </a:lnTo>
                  <a:lnTo>
                    <a:pt x="5451589" y="8128"/>
                  </a:lnTo>
                  <a:lnTo>
                    <a:pt x="5452986" y="4749"/>
                  </a:lnTo>
                  <a:close/>
                </a:path>
                <a:path w="5545455" h="9525">
                  <a:moveTo>
                    <a:pt x="5545252" y="4749"/>
                  </a:moveTo>
                  <a:lnTo>
                    <a:pt x="5543855" y="1384"/>
                  </a:lnTo>
                  <a:lnTo>
                    <a:pt x="5540489" y="0"/>
                  </a:lnTo>
                  <a:lnTo>
                    <a:pt x="5537111" y="1384"/>
                  </a:lnTo>
                  <a:lnTo>
                    <a:pt x="5535727" y="4749"/>
                  </a:lnTo>
                  <a:lnTo>
                    <a:pt x="5537111" y="8128"/>
                  </a:lnTo>
                  <a:lnTo>
                    <a:pt x="5540489" y="9512"/>
                  </a:lnTo>
                  <a:lnTo>
                    <a:pt x="5543855" y="8128"/>
                  </a:lnTo>
                  <a:lnTo>
                    <a:pt x="5545252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066" y="2196007"/>
            <a:ext cx="5519896" cy="171156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64420" y="5057585"/>
            <a:ext cx="5504815" cy="241935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5"/>
              </a:spcBef>
            </a:pPr>
            <a:r>
              <a:rPr dirty="0" sz="900" spc="-25">
                <a:solidFill>
                  <a:srgbClr val="585858"/>
                </a:solidFill>
                <a:latin typeface="Arial"/>
                <a:cs typeface="Arial"/>
              </a:rPr>
              <a:t>Jan</a:t>
            </a:r>
            <a:endParaRPr sz="900">
              <a:latin typeface="Arial"/>
              <a:cs typeface="Arial"/>
            </a:endParaRPr>
          </a:p>
          <a:p>
            <a:pPr algn="r" marL="12700" marR="5080" indent="19050">
              <a:lnSpc>
                <a:spcPct val="134500"/>
              </a:lnSpc>
            </a:pPr>
            <a:r>
              <a:rPr dirty="0" sz="900" spc="-25">
                <a:solidFill>
                  <a:srgbClr val="585858"/>
                </a:solidFill>
                <a:latin typeface="Arial"/>
                <a:cs typeface="Arial"/>
              </a:rPr>
              <a:t>Mar May Jul Sep Nov Jan Mar May Jul Sep Nov Jan Mar May Jul Sep Nov Jan Mar May Jul Sep Nov Jan Mar May Jul Sep Nov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04607" y="4878120"/>
            <a:ext cx="89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7473" y="4355045"/>
            <a:ext cx="216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Arial"/>
                <a:cs typeface="Arial"/>
              </a:rPr>
              <a:t>500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3906" y="3831983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1000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3906" y="3308908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1500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13906" y="2785833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2000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3906" y="2262767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2500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3906" y="1739696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3000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679070" y="1387640"/>
            <a:ext cx="16846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Monthly</a:t>
            </a:r>
            <a:r>
              <a:rPr dirty="0" sz="1400" spc="-2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Ticket</a:t>
            </a:r>
            <a:r>
              <a:rPr dirty="0" sz="1400" spc="-1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Arial"/>
                <a:cs typeface="Arial"/>
              </a:rPr>
              <a:t>Trend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dirty="0" spc="484"/>
              <a:t> </a:t>
            </a:r>
            <a:r>
              <a:rPr dirty="0"/>
              <a:t>chart</a:t>
            </a:r>
            <a:r>
              <a:rPr dirty="0" spc="484"/>
              <a:t> </a:t>
            </a:r>
            <a:r>
              <a:rPr dirty="0"/>
              <a:t>shows</a:t>
            </a:r>
            <a:r>
              <a:rPr dirty="0" spc="484"/>
              <a:t> </a:t>
            </a:r>
            <a:r>
              <a:rPr dirty="0"/>
              <a:t>how</a:t>
            </a:r>
            <a:r>
              <a:rPr dirty="0" spc="484"/>
              <a:t> </a:t>
            </a:r>
            <a:r>
              <a:rPr dirty="0"/>
              <a:t>ticket</a:t>
            </a:r>
            <a:r>
              <a:rPr dirty="0" spc="484"/>
              <a:t> </a:t>
            </a:r>
            <a:r>
              <a:rPr dirty="0"/>
              <a:t>volume</a:t>
            </a:r>
            <a:r>
              <a:rPr dirty="0" spc="484"/>
              <a:t> </a:t>
            </a:r>
            <a:r>
              <a:rPr dirty="0" spc="-10"/>
              <a:t>changed </a:t>
            </a:r>
            <a:r>
              <a:rPr dirty="0"/>
              <a:t>between</a:t>
            </a:r>
            <a:r>
              <a:rPr dirty="0" spc="190"/>
              <a:t>  </a:t>
            </a:r>
            <a:r>
              <a:rPr dirty="0"/>
              <a:t>2016</a:t>
            </a:r>
            <a:r>
              <a:rPr dirty="0" spc="190"/>
              <a:t>  </a:t>
            </a:r>
            <a:r>
              <a:rPr dirty="0"/>
              <a:t>and</a:t>
            </a:r>
            <a:r>
              <a:rPr dirty="0" spc="195"/>
              <a:t>  </a:t>
            </a:r>
            <a:r>
              <a:rPr dirty="0"/>
              <a:t>2020.</a:t>
            </a:r>
            <a:r>
              <a:rPr dirty="0" spc="190"/>
              <a:t>  </a:t>
            </a:r>
            <a:r>
              <a:rPr dirty="0"/>
              <a:t>We</a:t>
            </a:r>
            <a:r>
              <a:rPr dirty="0" spc="190"/>
              <a:t>  </a:t>
            </a:r>
            <a:r>
              <a:rPr dirty="0"/>
              <a:t>can</a:t>
            </a:r>
            <a:r>
              <a:rPr dirty="0" spc="195"/>
              <a:t>  </a:t>
            </a:r>
            <a:r>
              <a:rPr dirty="0" spc="-10"/>
              <a:t>observe </a:t>
            </a:r>
            <a:r>
              <a:rPr dirty="0"/>
              <a:t>fluctuations</a:t>
            </a:r>
            <a:r>
              <a:rPr dirty="0" spc="260"/>
              <a:t> </a:t>
            </a:r>
            <a:r>
              <a:rPr dirty="0"/>
              <a:t>in</a:t>
            </a:r>
            <a:r>
              <a:rPr dirty="0" spc="275"/>
              <a:t> </a:t>
            </a:r>
            <a:r>
              <a:rPr dirty="0"/>
              <a:t>the</a:t>
            </a:r>
            <a:r>
              <a:rPr dirty="0" spc="275"/>
              <a:t> </a:t>
            </a:r>
            <a:r>
              <a:rPr dirty="0"/>
              <a:t>number</a:t>
            </a:r>
            <a:r>
              <a:rPr dirty="0" spc="270"/>
              <a:t> </a:t>
            </a:r>
            <a:r>
              <a:rPr dirty="0"/>
              <a:t>of</a:t>
            </a:r>
            <a:r>
              <a:rPr dirty="0" spc="275"/>
              <a:t> </a:t>
            </a:r>
            <a:r>
              <a:rPr dirty="0"/>
              <a:t>support</a:t>
            </a:r>
            <a:r>
              <a:rPr dirty="0" spc="275"/>
              <a:t> </a:t>
            </a:r>
            <a:r>
              <a:rPr dirty="0" spc="-10"/>
              <a:t>requests, </a:t>
            </a:r>
            <a:r>
              <a:rPr dirty="0"/>
              <a:t>with</a:t>
            </a:r>
            <a:r>
              <a:rPr dirty="0" spc="175"/>
              <a:t> </a:t>
            </a:r>
            <a:r>
              <a:rPr dirty="0"/>
              <a:t>some</a:t>
            </a:r>
            <a:r>
              <a:rPr dirty="0" spc="180"/>
              <a:t> </a:t>
            </a:r>
            <a:r>
              <a:rPr dirty="0"/>
              <a:t>periods</a:t>
            </a:r>
            <a:r>
              <a:rPr dirty="0" spc="180"/>
              <a:t> </a:t>
            </a:r>
            <a:r>
              <a:rPr dirty="0"/>
              <a:t>experiencing</a:t>
            </a:r>
            <a:r>
              <a:rPr dirty="0" spc="180"/>
              <a:t> </a:t>
            </a:r>
            <a:r>
              <a:rPr dirty="0"/>
              <a:t>higher</a:t>
            </a:r>
            <a:r>
              <a:rPr dirty="0" spc="180"/>
              <a:t> </a:t>
            </a:r>
            <a:r>
              <a:rPr dirty="0" spc="-10"/>
              <a:t>demand </a:t>
            </a:r>
            <a:r>
              <a:rPr dirty="0"/>
              <a:t>than</a:t>
            </a:r>
            <a:r>
              <a:rPr dirty="0" spc="70"/>
              <a:t>  </a:t>
            </a:r>
            <a:r>
              <a:rPr dirty="0"/>
              <a:t>others.</a:t>
            </a:r>
            <a:r>
              <a:rPr dirty="0" spc="70"/>
              <a:t>  </a:t>
            </a:r>
            <a:r>
              <a:rPr dirty="0"/>
              <a:t>These</a:t>
            </a:r>
            <a:r>
              <a:rPr dirty="0" spc="75"/>
              <a:t>  </a:t>
            </a:r>
            <a:r>
              <a:rPr dirty="0"/>
              <a:t>trends</a:t>
            </a:r>
            <a:r>
              <a:rPr dirty="0" spc="70"/>
              <a:t>  </a:t>
            </a:r>
            <a:r>
              <a:rPr dirty="0"/>
              <a:t>help</a:t>
            </a:r>
            <a:r>
              <a:rPr dirty="0" spc="75"/>
              <a:t>  </a:t>
            </a:r>
            <a:r>
              <a:rPr dirty="0" spc="-10"/>
              <a:t>management </a:t>
            </a:r>
            <a:r>
              <a:rPr dirty="0"/>
              <a:t>anticipate</a:t>
            </a:r>
            <a:r>
              <a:rPr dirty="0" spc="225"/>
              <a:t>  </a:t>
            </a:r>
            <a:r>
              <a:rPr dirty="0"/>
              <a:t>peak</a:t>
            </a:r>
            <a:r>
              <a:rPr dirty="0" spc="235"/>
              <a:t>  </a:t>
            </a:r>
            <a:r>
              <a:rPr dirty="0"/>
              <a:t>workloads,</a:t>
            </a:r>
            <a:r>
              <a:rPr dirty="0" spc="235"/>
              <a:t>  </a:t>
            </a:r>
            <a:r>
              <a:rPr dirty="0"/>
              <a:t>optimize</a:t>
            </a:r>
            <a:r>
              <a:rPr dirty="0" spc="240"/>
              <a:t>  </a:t>
            </a:r>
            <a:r>
              <a:rPr dirty="0" spc="-10"/>
              <a:t>staffing </a:t>
            </a:r>
            <a:r>
              <a:rPr dirty="0"/>
              <a:t>levels,</a:t>
            </a:r>
            <a:r>
              <a:rPr dirty="0" spc="434"/>
              <a:t> </a:t>
            </a:r>
            <a:r>
              <a:rPr dirty="0"/>
              <a:t>and</a:t>
            </a:r>
            <a:r>
              <a:rPr dirty="0" spc="434"/>
              <a:t> </a:t>
            </a:r>
            <a:r>
              <a:rPr dirty="0"/>
              <a:t>plan</a:t>
            </a:r>
            <a:r>
              <a:rPr dirty="0" spc="434"/>
              <a:t> </a:t>
            </a:r>
            <a:r>
              <a:rPr dirty="0"/>
              <a:t>resources</a:t>
            </a:r>
            <a:r>
              <a:rPr dirty="0" spc="434"/>
              <a:t> </a:t>
            </a:r>
            <a:r>
              <a:rPr dirty="0"/>
              <a:t>more</a:t>
            </a:r>
            <a:r>
              <a:rPr dirty="0" spc="434"/>
              <a:t> </a:t>
            </a:r>
            <a:r>
              <a:rPr dirty="0"/>
              <a:t>effectively</a:t>
            </a:r>
            <a:r>
              <a:rPr dirty="0" spc="440"/>
              <a:t> </a:t>
            </a:r>
            <a:r>
              <a:rPr dirty="0" spc="-25"/>
              <a:t>to </a:t>
            </a:r>
            <a:r>
              <a:rPr dirty="0"/>
              <a:t>maintain</a:t>
            </a:r>
            <a:r>
              <a:rPr dirty="0" spc="-30"/>
              <a:t> </a:t>
            </a:r>
            <a:r>
              <a:rPr dirty="0"/>
              <a:t>service</a:t>
            </a:r>
            <a:r>
              <a:rPr dirty="0" spc="-30"/>
              <a:t> </a:t>
            </a:r>
            <a:r>
              <a:rPr dirty="0" spc="-10"/>
              <a:t>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6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Slide</a:t>
            </a:r>
            <a:r>
              <a:rPr dirty="0" spc="-35"/>
              <a:t> </a:t>
            </a:r>
            <a:r>
              <a:rPr dirty="0"/>
              <a:t>5:</a:t>
            </a:r>
            <a:r>
              <a:rPr dirty="0" spc="-30"/>
              <a:t> </a:t>
            </a:r>
            <a:r>
              <a:rPr dirty="0"/>
              <a:t>Tickets</a:t>
            </a:r>
            <a:r>
              <a:rPr dirty="0" spc="-35"/>
              <a:t> </a:t>
            </a:r>
            <a:r>
              <a:rPr dirty="0"/>
              <a:t>By</a:t>
            </a:r>
            <a:r>
              <a:rPr dirty="0" spc="-30"/>
              <a:t> </a:t>
            </a:r>
            <a:r>
              <a:rPr dirty="0" spc="-10"/>
              <a:t>Priority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18730" y="2268943"/>
            <a:ext cx="5467985" cy="3095625"/>
            <a:chOff x="918730" y="2268943"/>
            <a:chExt cx="5467985" cy="3095625"/>
          </a:xfrm>
        </p:grpSpPr>
        <p:sp>
          <p:nvSpPr>
            <p:cNvPr id="4" name="object 4" descr=""/>
            <p:cNvSpPr/>
            <p:nvPr/>
          </p:nvSpPr>
          <p:spPr>
            <a:xfrm>
              <a:off x="1391907" y="2268956"/>
              <a:ext cx="4521835" cy="3081655"/>
            </a:xfrm>
            <a:custGeom>
              <a:avLst/>
              <a:gdLst/>
              <a:ahLst/>
              <a:cxnLst/>
              <a:rect l="l" t="t" r="r" b="b"/>
              <a:pathLst>
                <a:path w="4521835" h="3081654">
                  <a:moveTo>
                    <a:pt x="427774" y="533730"/>
                  </a:moveTo>
                  <a:lnTo>
                    <a:pt x="0" y="533730"/>
                  </a:lnTo>
                  <a:lnTo>
                    <a:pt x="0" y="3081121"/>
                  </a:lnTo>
                  <a:lnTo>
                    <a:pt x="427774" y="3081121"/>
                  </a:lnTo>
                  <a:lnTo>
                    <a:pt x="427774" y="533730"/>
                  </a:lnTo>
                  <a:close/>
                </a:path>
                <a:path w="4521835" h="3081654">
                  <a:moveTo>
                    <a:pt x="1792376" y="1639265"/>
                  </a:moveTo>
                  <a:lnTo>
                    <a:pt x="1364602" y="1639265"/>
                  </a:lnTo>
                  <a:lnTo>
                    <a:pt x="1364602" y="3081121"/>
                  </a:lnTo>
                  <a:lnTo>
                    <a:pt x="1792376" y="3081121"/>
                  </a:lnTo>
                  <a:lnTo>
                    <a:pt x="1792376" y="1639265"/>
                  </a:lnTo>
                  <a:close/>
                </a:path>
                <a:path w="4521835" h="3081654">
                  <a:moveTo>
                    <a:pt x="3156978" y="1713077"/>
                  </a:moveTo>
                  <a:lnTo>
                    <a:pt x="2729204" y="1713077"/>
                  </a:lnTo>
                  <a:lnTo>
                    <a:pt x="2729204" y="3081121"/>
                  </a:lnTo>
                  <a:lnTo>
                    <a:pt x="3156978" y="3081121"/>
                  </a:lnTo>
                  <a:lnTo>
                    <a:pt x="3156978" y="1713077"/>
                  </a:lnTo>
                  <a:close/>
                </a:path>
                <a:path w="4521835" h="3081654">
                  <a:moveTo>
                    <a:pt x="4521581" y="0"/>
                  </a:moveTo>
                  <a:lnTo>
                    <a:pt x="4093807" y="0"/>
                  </a:lnTo>
                  <a:lnTo>
                    <a:pt x="4093807" y="3081121"/>
                  </a:lnTo>
                  <a:lnTo>
                    <a:pt x="4521581" y="3081121"/>
                  </a:lnTo>
                  <a:lnTo>
                    <a:pt x="4521581" y="0"/>
                  </a:lnTo>
                  <a:close/>
                </a:path>
              </a:pathLst>
            </a:custGeom>
            <a:solidFill>
              <a:srgbClr val="14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23493" y="5359590"/>
              <a:ext cx="5458460" cy="0"/>
            </a:xfrm>
            <a:custGeom>
              <a:avLst/>
              <a:gdLst/>
              <a:ahLst/>
              <a:cxnLst/>
              <a:rect l="l" t="t" r="r" b="b"/>
              <a:pathLst>
                <a:path w="5458460" h="0">
                  <a:moveTo>
                    <a:pt x="0" y="0"/>
                  </a:moveTo>
                  <a:lnTo>
                    <a:pt x="5458411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8730" y="5354840"/>
              <a:ext cx="5467985" cy="9525"/>
            </a:xfrm>
            <a:custGeom>
              <a:avLst/>
              <a:gdLst/>
              <a:ahLst/>
              <a:cxnLst/>
              <a:rect l="l" t="t" r="r" b="b"/>
              <a:pathLst>
                <a:path w="5467985" h="9525">
                  <a:moveTo>
                    <a:pt x="9512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84" y="1384"/>
                  </a:lnTo>
                  <a:lnTo>
                    <a:pt x="0" y="4749"/>
                  </a:lnTo>
                  <a:lnTo>
                    <a:pt x="1384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12" y="4749"/>
                  </a:lnTo>
                  <a:close/>
                </a:path>
                <a:path w="5467985" h="9525">
                  <a:moveTo>
                    <a:pt x="1374127" y="4749"/>
                  </a:moveTo>
                  <a:lnTo>
                    <a:pt x="1372730" y="1384"/>
                  </a:lnTo>
                  <a:lnTo>
                    <a:pt x="1369364" y="0"/>
                  </a:lnTo>
                  <a:lnTo>
                    <a:pt x="1365999" y="1384"/>
                  </a:lnTo>
                  <a:lnTo>
                    <a:pt x="1364602" y="4749"/>
                  </a:lnTo>
                  <a:lnTo>
                    <a:pt x="1365999" y="8128"/>
                  </a:lnTo>
                  <a:lnTo>
                    <a:pt x="1369364" y="9512"/>
                  </a:lnTo>
                  <a:lnTo>
                    <a:pt x="1372730" y="8128"/>
                  </a:lnTo>
                  <a:lnTo>
                    <a:pt x="1374127" y="4749"/>
                  </a:lnTo>
                  <a:close/>
                </a:path>
                <a:path w="5467985" h="9525">
                  <a:moveTo>
                    <a:pt x="2738729" y="4749"/>
                  </a:moveTo>
                  <a:lnTo>
                    <a:pt x="2737332" y="1384"/>
                  </a:lnTo>
                  <a:lnTo>
                    <a:pt x="2733967" y="0"/>
                  </a:lnTo>
                  <a:lnTo>
                    <a:pt x="2730601" y="1384"/>
                  </a:lnTo>
                  <a:lnTo>
                    <a:pt x="2729204" y="4749"/>
                  </a:lnTo>
                  <a:lnTo>
                    <a:pt x="2730601" y="8128"/>
                  </a:lnTo>
                  <a:lnTo>
                    <a:pt x="2733967" y="9512"/>
                  </a:lnTo>
                  <a:lnTo>
                    <a:pt x="2737332" y="8128"/>
                  </a:lnTo>
                  <a:lnTo>
                    <a:pt x="2738729" y="4749"/>
                  </a:lnTo>
                  <a:close/>
                </a:path>
                <a:path w="5467985" h="9525">
                  <a:moveTo>
                    <a:pt x="4103332" y="4749"/>
                  </a:moveTo>
                  <a:lnTo>
                    <a:pt x="4101935" y="1384"/>
                  </a:lnTo>
                  <a:lnTo>
                    <a:pt x="4098569" y="0"/>
                  </a:lnTo>
                  <a:lnTo>
                    <a:pt x="4095204" y="1384"/>
                  </a:lnTo>
                  <a:lnTo>
                    <a:pt x="4093807" y="4749"/>
                  </a:lnTo>
                  <a:lnTo>
                    <a:pt x="4095204" y="8128"/>
                  </a:lnTo>
                  <a:lnTo>
                    <a:pt x="4098569" y="9512"/>
                  </a:lnTo>
                  <a:lnTo>
                    <a:pt x="4101935" y="8128"/>
                  </a:lnTo>
                  <a:lnTo>
                    <a:pt x="4103332" y="4749"/>
                  </a:lnTo>
                  <a:close/>
                </a:path>
                <a:path w="5467985" h="9525">
                  <a:moveTo>
                    <a:pt x="5467934" y="4749"/>
                  </a:moveTo>
                  <a:lnTo>
                    <a:pt x="5466537" y="1384"/>
                  </a:lnTo>
                  <a:lnTo>
                    <a:pt x="5463171" y="0"/>
                  </a:lnTo>
                  <a:lnTo>
                    <a:pt x="5459806" y="1384"/>
                  </a:lnTo>
                  <a:lnTo>
                    <a:pt x="5458409" y="4749"/>
                  </a:lnTo>
                  <a:lnTo>
                    <a:pt x="5459806" y="8128"/>
                  </a:lnTo>
                  <a:lnTo>
                    <a:pt x="5463171" y="9512"/>
                  </a:lnTo>
                  <a:lnTo>
                    <a:pt x="5466537" y="8128"/>
                  </a:lnTo>
                  <a:lnTo>
                    <a:pt x="5467934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08708" y="5451157"/>
            <a:ext cx="7943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0</a:t>
            </a:r>
            <a:r>
              <a:rPr dirty="0" sz="900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- 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Unassigned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70292" y="5451157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1</a:t>
            </a:r>
            <a:r>
              <a:rPr dirty="0" sz="900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- </a:t>
            </a:r>
            <a:r>
              <a:rPr dirty="0" sz="900" spc="-25">
                <a:solidFill>
                  <a:srgbClr val="585858"/>
                </a:solidFill>
                <a:latin typeface="Arial"/>
                <a:cs typeface="Arial"/>
              </a:rPr>
              <a:t>Low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47647" y="5451157"/>
            <a:ext cx="375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2</a:t>
            </a:r>
            <a:r>
              <a:rPr dirty="0" sz="900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- </a:t>
            </a:r>
            <a:r>
              <a:rPr dirty="0" sz="900" spc="-25">
                <a:solidFill>
                  <a:srgbClr val="585858"/>
                </a:solidFill>
                <a:latin typeface="Arial"/>
                <a:cs typeface="Arial"/>
              </a:rPr>
              <a:t>Mid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86799" y="5451157"/>
            <a:ext cx="4260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3</a:t>
            </a:r>
            <a:r>
              <a:rPr dirty="0" sz="900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- </a:t>
            </a: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High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2678" y="3969994"/>
            <a:ext cx="343535" cy="1466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15000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9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10000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9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5000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9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900" spc="-50">
                <a:solidFill>
                  <a:srgbClr val="585858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2678" y="3535286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20000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2678" y="3100590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25000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2678" y="2665882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30000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2678" y="2231180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35000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2678" y="1796478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40000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59703" y="1444421"/>
            <a:ext cx="14471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Tickets</a:t>
            </a:r>
            <a:r>
              <a:rPr dirty="0" sz="1400" spc="-1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By</a:t>
            </a:r>
            <a:r>
              <a:rPr dirty="0" sz="1400" spc="-1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Arial"/>
                <a:cs typeface="Arial"/>
              </a:rPr>
              <a:t>Priority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740614" y="1718868"/>
            <a:ext cx="4936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  <a:tab pos="1306195" algn="l"/>
                <a:tab pos="2131695" algn="l"/>
                <a:tab pos="2626995" algn="l"/>
                <a:tab pos="3908425" algn="l"/>
                <a:tab pos="4276090" algn="l"/>
              </a:tabLst>
            </a:pPr>
            <a:r>
              <a:rPr dirty="0" sz="1800" spc="-20">
                <a:latin typeface="Arial"/>
                <a:cs typeface="Arial"/>
              </a:rPr>
              <a:t>This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0">
                <a:latin typeface="Arial"/>
                <a:cs typeface="Arial"/>
              </a:rPr>
              <a:t>chart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0">
                <a:latin typeface="Arial"/>
                <a:cs typeface="Arial"/>
              </a:rPr>
              <a:t>shows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5">
                <a:latin typeface="Arial"/>
                <a:cs typeface="Arial"/>
              </a:rPr>
              <a:t>the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distribution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5">
                <a:latin typeface="Arial"/>
                <a:cs typeface="Arial"/>
              </a:rPr>
              <a:t>of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tickets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740614" y="1993188"/>
            <a:ext cx="49364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72160" algn="l"/>
                <a:tab pos="1163955" algn="l"/>
                <a:tab pos="1191895" algn="l"/>
                <a:tab pos="1749425" algn="l"/>
                <a:tab pos="2049145" algn="l"/>
                <a:tab pos="2104390" algn="l"/>
                <a:tab pos="2586990" algn="l"/>
                <a:tab pos="3416300" algn="l"/>
                <a:tab pos="3665854" algn="l"/>
                <a:tab pos="4200525" algn="l"/>
                <a:tab pos="4794885" algn="l"/>
              </a:tabLst>
            </a:pPr>
            <a:r>
              <a:rPr dirty="0" sz="1800" spc="-10">
                <a:latin typeface="Arial"/>
                <a:cs typeface="Arial"/>
              </a:rPr>
              <a:t>based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5">
                <a:latin typeface="Arial"/>
                <a:cs typeface="Arial"/>
              </a:rPr>
              <a:t>on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priority.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High-priority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tickets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0">
                <a:latin typeface="Arial"/>
                <a:cs typeface="Arial"/>
              </a:rPr>
              <a:t>form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50">
                <a:latin typeface="Arial"/>
                <a:cs typeface="Arial"/>
              </a:rPr>
              <a:t>a </a:t>
            </a:r>
            <a:r>
              <a:rPr dirty="0" sz="1800" spc="-10">
                <a:latin typeface="Arial"/>
                <a:cs typeface="Arial"/>
              </a:rPr>
              <a:t>significant</a:t>
            </a:r>
            <a:r>
              <a:rPr dirty="0" sz="1800">
                <a:latin typeface="Arial"/>
                <a:cs typeface="Arial"/>
              </a:rPr>
              <a:t>		</a:t>
            </a:r>
            <a:r>
              <a:rPr dirty="0" sz="1800" spc="-20">
                <a:latin typeface="Arial"/>
                <a:cs typeface="Arial"/>
              </a:rPr>
              <a:t>part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5">
                <a:latin typeface="Arial"/>
                <a:cs typeface="Arial"/>
              </a:rPr>
              <a:t>of</a:t>
            </a:r>
            <a:r>
              <a:rPr dirty="0" sz="1800">
                <a:latin typeface="Arial"/>
                <a:cs typeface="Arial"/>
              </a:rPr>
              <a:t>		</a:t>
            </a:r>
            <a:r>
              <a:rPr dirty="0" sz="1800" spc="-25">
                <a:latin typeface="Arial"/>
                <a:cs typeface="Arial"/>
              </a:rPr>
              <a:t>the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workload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5">
                <a:latin typeface="Arial"/>
                <a:cs typeface="Arial"/>
              </a:rPr>
              <a:t>and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4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require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740614" y="2541828"/>
            <a:ext cx="28238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12520" algn="l"/>
                <a:tab pos="1312545" algn="l"/>
                <a:tab pos="1744345" algn="l"/>
                <a:tab pos="2435860" algn="l"/>
              </a:tabLst>
            </a:pPr>
            <a:r>
              <a:rPr dirty="0" sz="1800" spc="-10">
                <a:latin typeface="Arial"/>
                <a:cs typeface="Arial"/>
              </a:rPr>
              <a:t>immediate</a:t>
            </a:r>
            <a:r>
              <a:rPr dirty="0" sz="1800">
                <a:latin typeface="Arial"/>
                <a:cs typeface="Arial"/>
              </a:rPr>
              <a:t>		</a:t>
            </a:r>
            <a:r>
              <a:rPr dirty="0" sz="1800" spc="-10">
                <a:latin typeface="Arial"/>
                <a:cs typeface="Arial"/>
              </a:rPr>
              <a:t>attention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5">
                <a:latin typeface="Arial"/>
                <a:cs typeface="Arial"/>
              </a:rPr>
              <a:t>to </a:t>
            </a:r>
            <a:r>
              <a:rPr dirty="0" sz="1800" spc="-10">
                <a:latin typeface="Arial"/>
                <a:cs typeface="Arial"/>
              </a:rPr>
              <a:t>impact.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5">
                <a:latin typeface="Arial"/>
                <a:cs typeface="Arial"/>
              </a:rPr>
              <a:t>By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monitoring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601772" y="2541828"/>
            <a:ext cx="10121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minimize</a:t>
            </a:r>
            <a:endParaRPr sz="1800">
              <a:latin typeface="Arial"/>
              <a:cs typeface="Arial"/>
            </a:endParaRPr>
          </a:p>
          <a:p>
            <a:pPr marL="314325">
              <a:lnSpc>
                <a:spcPct val="100000"/>
              </a:lnSpc>
            </a:pPr>
            <a:r>
              <a:rPr dirty="0" sz="1800" spc="-10">
                <a:latin typeface="Arial"/>
                <a:cs typeface="Arial"/>
              </a:rPr>
              <a:t>priority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750312" y="2541828"/>
            <a:ext cx="9277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265" marR="5080" indent="-2032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business trends,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740614" y="3090468"/>
            <a:ext cx="493712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management</a:t>
            </a:r>
            <a:r>
              <a:rPr dirty="0" sz="1800" spc="37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37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allocate</a:t>
            </a:r>
            <a:r>
              <a:rPr dirty="0" sz="1800" spc="37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resources</a:t>
            </a:r>
            <a:r>
              <a:rPr dirty="0" sz="1800" spc="370">
                <a:latin typeface="Arial"/>
                <a:cs typeface="Arial"/>
              </a:rPr>
              <a:t>  </a:t>
            </a:r>
            <a:r>
              <a:rPr dirty="0" sz="1800" spc="-20">
                <a:latin typeface="Arial"/>
                <a:cs typeface="Arial"/>
              </a:rPr>
              <a:t>more </a:t>
            </a:r>
            <a:r>
              <a:rPr dirty="0" sz="1800">
                <a:latin typeface="Arial"/>
                <a:cs typeface="Arial"/>
              </a:rPr>
              <a:t>effectively,</a:t>
            </a:r>
            <a:r>
              <a:rPr dirty="0" sz="1800" spc="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improve</a:t>
            </a:r>
            <a:r>
              <a:rPr dirty="0" sz="1800" spc="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response</a:t>
            </a:r>
            <a:r>
              <a:rPr dirty="0" sz="1800" spc="8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times,</a:t>
            </a:r>
            <a:r>
              <a:rPr dirty="0" sz="1800" spc="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9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ensure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critical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issues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resolved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quickly.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285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Slide</a:t>
            </a:r>
            <a:r>
              <a:rPr dirty="0" spc="-35"/>
              <a:t> </a:t>
            </a:r>
            <a:r>
              <a:rPr dirty="0"/>
              <a:t>6:</a:t>
            </a:r>
            <a:r>
              <a:rPr dirty="0" spc="-30"/>
              <a:t> </a:t>
            </a:r>
            <a:r>
              <a:rPr dirty="0"/>
              <a:t>Tickets</a:t>
            </a:r>
            <a:r>
              <a:rPr dirty="0" spc="-35"/>
              <a:t> </a:t>
            </a:r>
            <a:r>
              <a:rPr dirty="0"/>
              <a:t>By</a:t>
            </a:r>
            <a:r>
              <a:rPr dirty="0" spc="-30"/>
              <a:t> </a:t>
            </a:r>
            <a:r>
              <a:rPr dirty="0" spc="-10"/>
              <a:t>Severity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7843" y="1865198"/>
            <a:ext cx="4197461" cy="419746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783235" y="1507553"/>
            <a:ext cx="15360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Tickets</a:t>
            </a:r>
            <a:r>
              <a:rPr dirty="0" sz="1400" spc="-1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By</a:t>
            </a:r>
            <a:r>
              <a:rPr dirty="0" sz="1400" spc="-1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Arial"/>
                <a:cs typeface="Arial"/>
              </a:rPr>
              <a:t>Severity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74450" y="3449993"/>
            <a:ext cx="80708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950" indent="-95250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107950" algn="l"/>
              </a:tabLst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Unclassified</a:t>
            </a:r>
            <a:endParaRPr sz="900">
              <a:latin typeface="Arial"/>
              <a:cs typeface="Arial"/>
            </a:endParaRPr>
          </a:p>
          <a:p>
            <a:pPr marL="107950" indent="-95250">
              <a:lnSpc>
                <a:spcPct val="100000"/>
              </a:lnSpc>
              <a:buAutoNum type="arabicPlain"/>
              <a:tabLst>
                <a:tab pos="107950" algn="l"/>
              </a:tabLst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Minor</a:t>
            </a:r>
            <a:endParaRPr sz="900">
              <a:latin typeface="Arial"/>
              <a:cs typeface="Arial"/>
            </a:endParaRPr>
          </a:p>
          <a:p>
            <a:pPr marL="107950" indent="-95250">
              <a:lnSpc>
                <a:spcPct val="100000"/>
              </a:lnSpc>
              <a:buAutoNum type="arabicPlain"/>
              <a:tabLst>
                <a:tab pos="107950" algn="l"/>
              </a:tabLst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Normal</a:t>
            </a:r>
            <a:endParaRPr sz="900">
              <a:latin typeface="Arial"/>
              <a:cs typeface="Arial"/>
            </a:endParaRPr>
          </a:p>
          <a:p>
            <a:pPr marL="107950" indent="-95250">
              <a:lnSpc>
                <a:spcPct val="100000"/>
              </a:lnSpc>
              <a:buAutoNum type="arabicPlain"/>
              <a:tabLst>
                <a:tab pos="107950" algn="l"/>
              </a:tabLst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Major</a:t>
            </a:r>
            <a:endParaRPr sz="900">
              <a:latin typeface="Arial"/>
              <a:cs typeface="Arial"/>
            </a:endParaRPr>
          </a:p>
          <a:p>
            <a:pPr marL="107950" indent="-95250">
              <a:lnSpc>
                <a:spcPct val="100000"/>
              </a:lnSpc>
              <a:buAutoNum type="arabicPlain"/>
              <a:tabLst>
                <a:tab pos="107950" algn="l"/>
              </a:tabLst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Urgent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476990" y="350323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4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145F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476990" y="364039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4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476990" y="377755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4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186B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476990" y="391471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4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0F9E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476990" y="4051871"/>
            <a:ext cx="65405" cy="65405"/>
          </a:xfrm>
          <a:custGeom>
            <a:avLst/>
            <a:gdLst/>
            <a:ahLst/>
            <a:cxnLst/>
            <a:rect l="l" t="t" r="r" b="b"/>
            <a:pathLst>
              <a:path w="65404" h="65404">
                <a:moveTo>
                  <a:pt x="64799" y="0"/>
                </a:moveTo>
                <a:lnTo>
                  <a:pt x="0" y="0"/>
                </a:lnTo>
                <a:lnTo>
                  <a:pt x="0" y="64795"/>
                </a:lnTo>
                <a:lnTo>
                  <a:pt x="64799" y="64795"/>
                </a:lnTo>
                <a:lnTo>
                  <a:pt x="64799" y="0"/>
                </a:lnTo>
                <a:close/>
              </a:path>
            </a:pathLst>
          </a:custGeom>
          <a:solidFill>
            <a:srgbClr val="9F2B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793077" y="1148857"/>
            <a:ext cx="484822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This</a:t>
            </a:r>
            <a:r>
              <a:rPr dirty="0" sz="1800" spc="3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chart</a:t>
            </a:r>
            <a:r>
              <a:rPr dirty="0" sz="1800" spc="3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illustrates</a:t>
            </a:r>
            <a:r>
              <a:rPr dirty="0" sz="1800" spc="3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3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distribution</a:t>
            </a:r>
            <a:r>
              <a:rPr dirty="0" sz="1800" spc="3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3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tickets </a:t>
            </a:r>
            <a:r>
              <a:rPr dirty="0" sz="1800">
                <a:latin typeface="Arial"/>
                <a:cs typeface="Arial"/>
              </a:rPr>
              <a:t>by</a:t>
            </a:r>
            <a:r>
              <a:rPr dirty="0" sz="1800" spc="19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severity.</a:t>
            </a:r>
            <a:r>
              <a:rPr dirty="0" sz="1800" spc="19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Most</a:t>
            </a:r>
            <a:r>
              <a:rPr dirty="0" sz="1800" spc="19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tickets</a:t>
            </a:r>
            <a:r>
              <a:rPr dirty="0" sz="1800" spc="19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19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classified</a:t>
            </a:r>
            <a:r>
              <a:rPr dirty="0" sz="1800" spc="195">
                <a:latin typeface="Arial"/>
                <a:cs typeface="Arial"/>
              </a:rPr>
              <a:t>  </a:t>
            </a:r>
            <a:r>
              <a:rPr dirty="0" sz="1800" spc="-25">
                <a:latin typeface="Arial"/>
                <a:cs typeface="Arial"/>
              </a:rPr>
              <a:t>as </a:t>
            </a:r>
            <a:r>
              <a:rPr dirty="0" sz="1800">
                <a:latin typeface="Arial"/>
                <a:cs typeface="Arial"/>
              </a:rPr>
              <a:t>Normal,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indicating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routine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support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requests </a:t>
            </a:r>
            <a:r>
              <a:rPr dirty="0" sz="1800">
                <a:latin typeface="Arial"/>
                <a:cs typeface="Arial"/>
              </a:rPr>
              <a:t>make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up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majority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workload.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Although </a:t>
            </a:r>
            <a:r>
              <a:rPr dirty="0" sz="1800">
                <a:latin typeface="Arial"/>
                <a:cs typeface="Arial"/>
              </a:rPr>
              <a:t>Urgent</a:t>
            </a:r>
            <a:r>
              <a:rPr dirty="0" sz="1800" spc="20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20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Major</a:t>
            </a:r>
            <a:r>
              <a:rPr dirty="0" sz="1800" spc="20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tickets</a:t>
            </a:r>
            <a:r>
              <a:rPr dirty="0" sz="1800" spc="20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20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fewer</a:t>
            </a:r>
            <a:r>
              <a:rPr dirty="0" sz="1800" spc="20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20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number,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793077" y="2520457"/>
            <a:ext cx="37445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47065" algn="l"/>
                <a:tab pos="1252855" algn="l"/>
                <a:tab pos="1345565" algn="l"/>
                <a:tab pos="1675130" algn="l"/>
                <a:tab pos="1807845" algn="l"/>
                <a:tab pos="2601595" algn="l"/>
                <a:tab pos="2896235" algn="l"/>
                <a:tab pos="3476625" algn="l"/>
              </a:tabLst>
            </a:pPr>
            <a:r>
              <a:rPr dirty="0" sz="1800" spc="-20">
                <a:latin typeface="Arial"/>
                <a:cs typeface="Arial"/>
              </a:rPr>
              <a:t>they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0">
                <a:latin typeface="Arial"/>
                <a:cs typeface="Arial"/>
              </a:rPr>
              <a:t>have</a:t>
            </a:r>
            <a:r>
              <a:rPr dirty="0" sz="1800">
                <a:latin typeface="Arial"/>
                <a:cs typeface="Arial"/>
              </a:rPr>
              <a:t>		</a:t>
            </a:r>
            <a:r>
              <a:rPr dirty="0" sz="1800" spc="-50">
                <a:latin typeface="Arial"/>
                <a:cs typeface="Arial"/>
              </a:rPr>
              <a:t>a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greater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impact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5">
                <a:latin typeface="Arial"/>
                <a:cs typeface="Arial"/>
              </a:rPr>
              <a:t>on </a:t>
            </a:r>
            <a:r>
              <a:rPr dirty="0" sz="1800" spc="-10">
                <a:latin typeface="Arial"/>
                <a:cs typeface="Arial"/>
              </a:rPr>
              <a:t>operations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5">
                <a:latin typeface="Arial"/>
                <a:cs typeface="Arial"/>
              </a:rPr>
              <a:t>and</a:t>
            </a:r>
            <a:r>
              <a:rPr dirty="0" sz="1800">
                <a:latin typeface="Arial"/>
                <a:cs typeface="Arial"/>
              </a:rPr>
              <a:t>		</a:t>
            </a:r>
            <a:r>
              <a:rPr dirty="0" sz="1800" spc="-10">
                <a:latin typeface="Arial"/>
                <a:cs typeface="Arial"/>
              </a:rPr>
              <a:t>therefore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require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561989" y="2520457"/>
            <a:ext cx="10801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business immediate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93077" y="3069097"/>
            <a:ext cx="484822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attention.</a:t>
            </a:r>
            <a:r>
              <a:rPr dirty="0" sz="1800" spc="4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Monitoring</a:t>
            </a:r>
            <a:r>
              <a:rPr dirty="0" sz="1800" spc="4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ticket</a:t>
            </a:r>
            <a:r>
              <a:rPr dirty="0" sz="1800" spc="4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severity</a:t>
            </a:r>
            <a:r>
              <a:rPr dirty="0" sz="1800" spc="4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helps</a:t>
            </a:r>
            <a:r>
              <a:rPr dirty="0" sz="1800" spc="47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the </a:t>
            </a:r>
            <a:r>
              <a:rPr dirty="0" sz="1800">
                <a:latin typeface="Arial"/>
                <a:cs typeface="Arial"/>
              </a:rPr>
              <a:t>organization</a:t>
            </a:r>
            <a:r>
              <a:rPr dirty="0" sz="1800" spc="4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prioritize</a:t>
            </a:r>
            <a:r>
              <a:rPr dirty="0" sz="1800" spc="4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resources</a:t>
            </a:r>
            <a:r>
              <a:rPr dirty="0" sz="1800" spc="4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49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improve </a:t>
            </a:r>
            <a:r>
              <a:rPr dirty="0" sz="1800">
                <a:latin typeface="Arial"/>
                <a:cs typeface="Arial"/>
              </a:rPr>
              <a:t>overall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service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quality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6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Slide</a:t>
            </a:r>
            <a:r>
              <a:rPr dirty="0" spc="-95"/>
              <a:t> </a:t>
            </a:r>
            <a:r>
              <a:rPr dirty="0"/>
              <a:t>7:Request</a:t>
            </a:r>
            <a:r>
              <a:rPr dirty="0" spc="-95"/>
              <a:t> </a:t>
            </a:r>
            <a:r>
              <a:rPr dirty="0"/>
              <a:t>Category</a:t>
            </a:r>
            <a:r>
              <a:rPr dirty="0" spc="-95"/>
              <a:t> </a:t>
            </a:r>
            <a:r>
              <a:rPr dirty="0" spc="-10"/>
              <a:t>Distribution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685443" y="1795018"/>
            <a:ext cx="3777615" cy="4019550"/>
            <a:chOff x="1685443" y="1795018"/>
            <a:chExt cx="3777615" cy="4019550"/>
          </a:xfrm>
        </p:grpSpPr>
        <p:sp>
          <p:nvSpPr>
            <p:cNvPr id="4" name="object 4" descr=""/>
            <p:cNvSpPr/>
            <p:nvPr/>
          </p:nvSpPr>
          <p:spPr>
            <a:xfrm>
              <a:off x="1690205" y="2123236"/>
              <a:ext cx="3773170" cy="3362960"/>
            </a:xfrm>
            <a:custGeom>
              <a:avLst/>
              <a:gdLst/>
              <a:ahLst/>
              <a:cxnLst/>
              <a:rect l="l" t="t" r="r" b="b"/>
              <a:pathLst>
                <a:path w="3773170" h="3362960">
                  <a:moveTo>
                    <a:pt x="941489" y="3007144"/>
                  </a:moveTo>
                  <a:lnTo>
                    <a:pt x="0" y="3007144"/>
                  </a:lnTo>
                  <a:lnTo>
                    <a:pt x="0" y="3362604"/>
                  </a:lnTo>
                  <a:lnTo>
                    <a:pt x="941489" y="3362604"/>
                  </a:lnTo>
                  <a:lnTo>
                    <a:pt x="941489" y="3007144"/>
                  </a:lnTo>
                  <a:close/>
                </a:path>
                <a:path w="3773170" h="3362960">
                  <a:moveTo>
                    <a:pt x="1893023" y="1002385"/>
                  </a:moveTo>
                  <a:lnTo>
                    <a:pt x="0" y="1002385"/>
                  </a:lnTo>
                  <a:lnTo>
                    <a:pt x="0" y="1357845"/>
                  </a:lnTo>
                  <a:lnTo>
                    <a:pt x="1893023" y="1357845"/>
                  </a:lnTo>
                  <a:lnTo>
                    <a:pt x="1893023" y="1002385"/>
                  </a:lnTo>
                  <a:close/>
                </a:path>
                <a:path w="3773170" h="3362960">
                  <a:moveTo>
                    <a:pt x="2823870" y="2004771"/>
                  </a:moveTo>
                  <a:lnTo>
                    <a:pt x="0" y="2004771"/>
                  </a:lnTo>
                  <a:lnTo>
                    <a:pt x="0" y="2360218"/>
                  </a:lnTo>
                  <a:lnTo>
                    <a:pt x="2823870" y="2360218"/>
                  </a:lnTo>
                  <a:lnTo>
                    <a:pt x="2823870" y="2004771"/>
                  </a:lnTo>
                  <a:close/>
                </a:path>
                <a:path w="3773170" h="3362960">
                  <a:moveTo>
                    <a:pt x="3772712" y="0"/>
                  </a:moveTo>
                  <a:lnTo>
                    <a:pt x="0" y="0"/>
                  </a:lnTo>
                  <a:lnTo>
                    <a:pt x="0" y="355460"/>
                  </a:lnTo>
                  <a:lnTo>
                    <a:pt x="3772712" y="355460"/>
                  </a:lnTo>
                  <a:lnTo>
                    <a:pt x="3772712" y="0"/>
                  </a:lnTo>
                  <a:close/>
                </a:path>
              </a:pathLst>
            </a:custGeom>
            <a:solidFill>
              <a:srgbClr val="14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90206" y="1799780"/>
              <a:ext cx="0" cy="4010025"/>
            </a:xfrm>
            <a:custGeom>
              <a:avLst/>
              <a:gdLst/>
              <a:ahLst/>
              <a:cxnLst/>
              <a:rect l="l" t="t" r="r" b="b"/>
              <a:pathLst>
                <a:path w="0" h="4010025">
                  <a:moveTo>
                    <a:pt x="0" y="4009516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85442" y="1795030"/>
              <a:ext cx="9525" cy="4019550"/>
            </a:xfrm>
            <a:custGeom>
              <a:avLst/>
              <a:gdLst/>
              <a:ahLst/>
              <a:cxnLst/>
              <a:rect l="l" t="t" r="r" b="b"/>
              <a:pathLst>
                <a:path w="9525" h="4019550">
                  <a:moveTo>
                    <a:pt x="9525" y="4014266"/>
                  </a:moveTo>
                  <a:lnTo>
                    <a:pt x="8128" y="4010901"/>
                  </a:lnTo>
                  <a:lnTo>
                    <a:pt x="4762" y="4009517"/>
                  </a:lnTo>
                  <a:lnTo>
                    <a:pt x="1384" y="4010901"/>
                  </a:lnTo>
                  <a:lnTo>
                    <a:pt x="0" y="4014266"/>
                  </a:lnTo>
                  <a:lnTo>
                    <a:pt x="1384" y="4017645"/>
                  </a:lnTo>
                  <a:lnTo>
                    <a:pt x="4762" y="4019029"/>
                  </a:lnTo>
                  <a:lnTo>
                    <a:pt x="8128" y="4017645"/>
                  </a:lnTo>
                  <a:lnTo>
                    <a:pt x="9525" y="4014266"/>
                  </a:lnTo>
                  <a:close/>
                </a:path>
                <a:path w="9525" h="4019550">
                  <a:moveTo>
                    <a:pt x="9525" y="3011894"/>
                  </a:moveTo>
                  <a:lnTo>
                    <a:pt x="8128" y="3008528"/>
                  </a:lnTo>
                  <a:lnTo>
                    <a:pt x="4762" y="3007144"/>
                  </a:lnTo>
                  <a:lnTo>
                    <a:pt x="1384" y="3008528"/>
                  </a:lnTo>
                  <a:lnTo>
                    <a:pt x="0" y="3011894"/>
                  </a:lnTo>
                  <a:lnTo>
                    <a:pt x="1384" y="3015272"/>
                  </a:lnTo>
                  <a:lnTo>
                    <a:pt x="4762" y="3016656"/>
                  </a:lnTo>
                  <a:lnTo>
                    <a:pt x="8128" y="3015272"/>
                  </a:lnTo>
                  <a:lnTo>
                    <a:pt x="9525" y="3011894"/>
                  </a:lnTo>
                  <a:close/>
                </a:path>
                <a:path w="9525" h="4019550">
                  <a:moveTo>
                    <a:pt x="9525" y="2009508"/>
                  </a:moveTo>
                  <a:lnTo>
                    <a:pt x="8128" y="2006142"/>
                  </a:lnTo>
                  <a:lnTo>
                    <a:pt x="4762" y="2004758"/>
                  </a:lnTo>
                  <a:lnTo>
                    <a:pt x="1384" y="2006142"/>
                  </a:lnTo>
                  <a:lnTo>
                    <a:pt x="0" y="2009508"/>
                  </a:lnTo>
                  <a:lnTo>
                    <a:pt x="1384" y="2012886"/>
                  </a:lnTo>
                  <a:lnTo>
                    <a:pt x="4762" y="2014270"/>
                  </a:lnTo>
                  <a:lnTo>
                    <a:pt x="8128" y="2012886"/>
                  </a:lnTo>
                  <a:lnTo>
                    <a:pt x="9525" y="2009508"/>
                  </a:lnTo>
                  <a:close/>
                </a:path>
                <a:path w="9525" h="4019550">
                  <a:moveTo>
                    <a:pt x="9525" y="1007135"/>
                  </a:moveTo>
                  <a:lnTo>
                    <a:pt x="8128" y="1003769"/>
                  </a:lnTo>
                  <a:lnTo>
                    <a:pt x="4762" y="1002385"/>
                  </a:lnTo>
                  <a:lnTo>
                    <a:pt x="1384" y="1003769"/>
                  </a:lnTo>
                  <a:lnTo>
                    <a:pt x="0" y="1007135"/>
                  </a:lnTo>
                  <a:lnTo>
                    <a:pt x="1384" y="1010513"/>
                  </a:lnTo>
                  <a:lnTo>
                    <a:pt x="4762" y="1011897"/>
                  </a:lnTo>
                  <a:lnTo>
                    <a:pt x="8128" y="1010513"/>
                  </a:lnTo>
                  <a:lnTo>
                    <a:pt x="9525" y="1007135"/>
                  </a:lnTo>
                  <a:close/>
                </a:path>
                <a:path w="9525" h="4019550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84" y="1384"/>
                  </a:lnTo>
                  <a:lnTo>
                    <a:pt x="0" y="4749"/>
                  </a:lnTo>
                  <a:lnTo>
                    <a:pt x="1384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71751" y="5222621"/>
            <a:ext cx="52133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Hardware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87412" y="4220235"/>
            <a:ext cx="705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Login</a:t>
            </a: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Access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16176" y="3217862"/>
            <a:ext cx="4768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Software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86159" y="2215476"/>
            <a:ext cx="40703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45723" y="5900864"/>
            <a:ext cx="89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34028" y="5900864"/>
            <a:ext cx="41808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184" algn="l"/>
                <a:tab pos="948055" algn="l"/>
                <a:tab pos="1431290" algn="l"/>
                <a:tab pos="1915160" algn="l"/>
                <a:tab pos="2399030" algn="l"/>
                <a:tab pos="2882265" algn="l"/>
                <a:tab pos="3366135" algn="l"/>
                <a:tab pos="3850004" algn="l"/>
              </a:tabLst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5000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10000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15000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20000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25000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30000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35000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40000</a:t>
            </a:r>
            <a:r>
              <a:rPr dirty="0" sz="900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585858"/>
                </a:solidFill>
                <a:latin typeface="Arial"/>
                <a:cs typeface="Arial"/>
              </a:rPr>
              <a:t>45000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432180" y="1432610"/>
            <a:ext cx="23266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Tickets</a:t>
            </a:r>
            <a:r>
              <a:rPr dirty="0" sz="1400" spc="-2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By</a:t>
            </a:r>
            <a:r>
              <a:rPr dirty="0" sz="1400" spc="-2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Request</a:t>
            </a:r>
            <a:r>
              <a:rPr dirty="0" sz="1400" spc="-2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Arial"/>
                <a:cs typeface="Arial"/>
              </a:rPr>
              <a:t>Category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04584" y="1392288"/>
            <a:ext cx="5057775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This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chart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shows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distribution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tickets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across </a:t>
            </a:r>
            <a:r>
              <a:rPr dirty="0" sz="1800">
                <a:latin typeface="Arial"/>
                <a:cs typeface="Arial"/>
              </a:rPr>
              <a:t>different</a:t>
            </a:r>
            <a:r>
              <a:rPr dirty="0" sz="1800" spc="170">
                <a:latin typeface="Arial"/>
                <a:cs typeface="Arial"/>
              </a:rPr>
              <a:t>   </a:t>
            </a:r>
            <a:r>
              <a:rPr dirty="0" sz="1800">
                <a:latin typeface="Arial"/>
                <a:cs typeface="Arial"/>
              </a:rPr>
              <a:t>request</a:t>
            </a:r>
            <a:r>
              <a:rPr dirty="0" sz="1800" spc="185">
                <a:latin typeface="Arial"/>
                <a:cs typeface="Arial"/>
              </a:rPr>
              <a:t>   </a:t>
            </a:r>
            <a:r>
              <a:rPr dirty="0" sz="1800">
                <a:latin typeface="Arial"/>
                <a:cs typeface="Arial"/>
              </a:rPr>
              <a:t>categories.</a:t>
            </a:r>
            <a:r>
              <a:rPr dirty="0" sz="1800" spc="185">
                <a:latin typeface="Arial"/>
                <a:cs typeface="Arial"/>
              </a:rPr>
              <a:t>   </a:t>
            </a:r>
            <a:r>
              <a:rPr dirty="0" sz="1800" spc="-10">
                <a:latin typeface="Arial"/>
                <a:cs typeface="Arial"/>
              </a:rPr>
              <a:t>System-related </a:t>
            </a:r>
            <a:r>
              <a:rPr dirty="0" sz="1800">
                <a:latin typeface="Arial"/>
                <a:cs typeface="Arial"/>
              </a:rPr>
              <a:t>requests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generated the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highest number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 </a:t>
            </a:r>
            <a:r>
              <a:rPr dirty="0" sz="1800" spc="-10">
                <a:latin typeface="Arial"/>
                <a:cs typeface="Arial"/>
              </a:rPr>
              <a:t>tickets, </a:t>
            </a:r>
            <a:r>
              <a:rPr dirty="0" sz="1800">
                <a:latin typeface="Arial"/>
                <a:cs typeface="Arial"/>
              </a:rPr>
              <a:t>followed</a:t>
            </a:r>
            <a:r>
              <a:rPr dirty="0" sz="1800" spc="3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by</a:t>
            </a:r>
            <a:r>
              <a:rPr dirty="0" sz="1800" spc="3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Login</a:t>
            </a:r>
            <a:r>
              <a:rPr dirty="0" sz="1800" spc="3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Access</a:t>
            </a:r>
            <a:r>
              <a:rPr dirty="0" sz="1800" spc="3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3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Software</a:t>
            </a:r>
            <a:r>
              <a:rPr dirty="0" sz="1800" spc="3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issues. </a:t>
            </a:r>
            <a:r>
              <a:rPr dirty="0" sz="1800">
                <a:latin typeface="Arial"/>
                <a:cs typeface="Arial"/>
              </a:rPr>
              <a:t>Since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these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categories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account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large</a:t>
            </a:r>
            <a:r>
              <a:rPr dirty="0" sz="1800" spc="-10">
                <a:latin typeface="Arial"/>
                <a:cs typeface="Arial"/>
              </a:rPr>
              <a:t> portion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1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1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workload,</a:t>
            </a:r>
            <a:r>
              <a:rPr dirty="0" sz="1800" spc="1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implementing</a:t>
            </a:r>
            <a:r>
              <a:rPr dirty="0" sz="1800" spc="2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automation</a:t>
            </a:r>
            <a:r>
              <a:rPr dirty="0" sz="1800" spc="15">
                <a:latin typeface="Arial"/>
                <a:cs typeface="Arial"/>
              </a:rPr>
              <a:t>  </a:t>
            </a:r>
            <a:r>
              <a:rPr dirty="0" sz="1800" spc="-25">
                <a:latin typeface="Arial"/>
                <a:cs typeface="Arial"/>
              </a:rPr>
              <a:t>and </a:t>
            </a:r>
            <a:r>
              <a:rPr dirty="0" sz="1800" spc="-10">
                <a:latin typeface="Arial"/>
                <a:cs typeface="Arial"/>
              </a:rPr>
              <a:t>self-</a:t>
            </a:r>
            <a:r>
              <a:rPr dirty="0" sz="1800">
                <a:latin typeface="Arial"/>
                <a:cs typeface="Arial"/>
              </a:rPr>
              <a:t>service</a:t>
            </a:r>
            <a:r>
              <a:rPr dirty="0" sz="1800" spc="45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solutions</a:t>
            </a:r>
            <a:r>
              <a:rPr dirty="0" sz="1800" spc="459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45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reduce</a:t>
            </a:r>
            <a:r>
              <a:rPr dirty="0" sz="1800" spc="459">
                <a:latin typeface="Arial"/>
                <a:cs typeface="Arial"/>
              </a:rPr>
              <a:t>  </a:t>
            </a:r>
            <a:r>
              <a:rPr dirty="0" sz="1800" spc="-10">
                <a:latin typeface="Arial"/>
                <a:cs typeface="Arial"/>
              </a:rPr>
              <a:t>repetitive </a:t>
            </a:r>
            <a:r>
              <a:rPr dirty="0" sz="1800">
                <a:latin typeface="Arial"/>
                <a:cs typeface="Arial"/>
              </a:rPr>
              <a:t>requests,</a:t>
            </a:r>
            <a:r>
              <a:rPr dirty="0" sz="1800" spc="21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improve</a:t>
            </a:r>
            <a:r>
              <a:rPr dirty="0" sz="1800" spc="22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operational</a:t>
            </a:r>
            <a:r>
              <a:rPr dirty="0" sz="1800" spc="22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efficiency,</a:t>
            </a:r>
            <a:r>
              <a:rPr dirty="0" sz="1800" spc="220">
                <a:latin typeface="Arial"/>
                <a:cs typeface="Arial"/>
              </a:rPr>
              <a:t>  </a:t>
            </a:r>
            <a:r>
              <a:rPr dirty="0" sz="1800" spc="-25">
                <a:latin typeface="Arial"/>
                <a:cs typeface="Arial"/>
              </a:rPr>
              <a:t>and </a:t>
            </a:r>
            <a:r>
              <a:rPr dirty="0" sz="1800">
                <a:latin typeface="Arial"/>
                <a:cs typeface="Arial"/>
              </a:rPr>
              <a:t>allow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agents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focus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more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complex</a:t>
            </a:r>
            <a:r>
              <a:rPr dirty="0" sz="1800" spc="-10">
                <a:latin typeface="Arial"/>
                <a:cs typeface="Arial"/>
              </a:rPr>
              <a:t> issues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6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Slide</a:t>
            </a:r>
            <a:r>
              <a:rPr dirty="0" spc="-90"/>
              <a:t> </a:t>
            </a:r>
            <a:r>
              <a:rPr dirty="0"/>
              <a:t>8:Resolution</a:t>
            </a:r>
            <a:r>
              <a:rPr dirty="0" spc="-85"/>
              <a:t> </a:t>
            </a:r>
            <a:r>
              <a:rPr dirty="0"/>
              <a:t>Time</a:t>
            </a:r>
            <a:r>
              <a:rPr dirty="0" spc="-85"/>
              <a:t> </a:t>
            </a:r>
            <a:r>
              <a:rPr dirty="0" spc="-10"/>
              <a:t>Trend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28085" y="5729579"/>
            <a:ext cx="5024120" cy="9525"/>
            <a:chOff x="1228085" y="5729579"/>
            <a:chExt cx="5024120" cy="9525"/>
          </a:xfrm>
        </p:grpSpPr>
        <p:sp>
          <p:nvSpPr>
            <p:cNvPr id="4" name="object 4" descr=""/>
            <p:cNvSpPr/>
            <p:nvPr/>
          </p:nvSpPr>
          <p:spPr>
            <a:xfrm>
              <a:off x="1232847" y="5734342"/>
              <a:ext cx="5014595" cy="0"/>
            </a:xfrm>
            <a:custGeom>
              <a:avLst/>
              <a:gdLst/>
              <a:ahLst/>
              <a:cxnLst/>
              <a:rect l="l" t="t" r="r" b="b"/>
              <a:pathLst>
                <a:path w="5014595" h="0">
                  <a:moveTo>
                    <a:pt x="0" y="0"/>
                  </a:moveTo>
                  <a:lnTo>
                    <a:pt x="5014142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28077" y="5729592"/>
              <a:ext cx="5024120" cy="9525"/>
            </a:xfrm>
            <a:custGeom>
              <a:avLst/>
              <a:gdLst/>
              <a:ahLst/>
              <a:cxnLst/>
              <a:rect l="l" t="t" r="r" b="b"/>
              <a:pathLst>
                <a:path w="5024120" h="9525">
                  <a:moveTo>
                    <a:pt x="9525" y="4749"/>
                  </a:moveTo>
                  <a:lnTo>
                    <a:pt x="8128" y="1384"/>
                  </a:lnTo>
                  <a:lnTo>
                    <a:pt x="4762" y="0"/>
                  </a:lnTo>
                  <a:lnTo>
                    <a:pt x="1397" y="1384"/>
                  </a:lnTo>
                  <a:lnTo>
                    <a:pt x="0" y="4749"/>
                  </a:lnTo>
                  <a:lnTo>
                    <a:pt x="1397" y="8128"/>
                  </a:lnTo>
                  <a:lnTo>
                    <a:pt x="4762" y="9512"/>
                  </a:lnTo>
                  <a:lnTo>
                    <a:pt x="8128" y="8128"/>
                  </a:lnTo>
                  <a:lnTo>
                    <a:pt x="9525" y="4749"/>
                  </a:lnTo>
                  <a:close/>
                </a:path>
                <a:path w="5024120" h="9525">
                  <a:moveTo>
                    <a:pt x="1012355" y="4749"/>
                  </a:moveTo>
                  <a:lnTo>
                    <a:pt x="1010970" y="1384"/>
                  </a:lnTo>
                  <a:lnTo>
                    <a:pt x="1007605" y="0"/>
                  </a:lnTo>
                  <a:lnTo>
                    <a:pt x="1004227" y="1384"/>
                  </a:lnTo>
                  <a:lnTo>
                    <a:pt x="1002842" y="4749"/>
                  </a:lnTo>
                  <a:lnTo>
                    <a:pt x="1004227" y="8128"/>
                  </a:lnTo>
                  <a:lnTo>
                    <a:pt x="1007605" y="9512"/>
                  </a:lnTo>
                  <a:lnTo>
                    <a:pt x="1010970" y="8128"/>
                  </a:lnTo>
                  <a:lnTo>
                    <a:pt x="1012355" y="4749"/>
                  </a:lnTo>
                  <a:close/>
                </a:path>
                <a:path w="5024120" h="9525">
                  <a:moveTo>
                    <a:pt x="2015185" y="4749"/>
                  </a:moveTo>
                  <a:lnTo>
                    <a:pt x="2013800" y="1384"/>
                  </a:lnTo>
                  <a:lnTo>
                    <a:pt x="2010435" y="0"/>
                  </a:lnTo>
                  <a:lnTo>
                    <a:pt x="2007057" y="1384"/>
                  </a:lnTo>
                  <a:lnTo>
                    <a:pt x="2005672" y="4749"/>
                  </a:lnTo>
                  <a:lnTo>
                    <a:pt x="2007057" y="8128"/>
                  </a:lnTo>
                  <a:lnTo>
                    <a:pt x="2010435" y="9512"/>
                  </a:lnTo>
                  <a:lnTo>
                    <a:pt x="2013800" y="8128"/>
                  </a:lnTo>
                  <a:lnTo>
                    <a:pt x="2015185" y="4749"/>
                  </a:lnTo>
                  <a:close/>
                </a:path>
                <a:path w="5024120" h="9525">
                  <a:moveTo>
                    <a:pt x="3018002" y="4749"/>
                  </a:moveTo>
                  <a:lnTo>
                    <a:pt x="3016618" y="1384"/>
                  </a:lnTo>
                  <a:lnTo>
                    <a:pt x="3013252" y="0"/>
                  </a:lnTo>
                  <a:lnTo>
                    <a:pt x="3009874" y="1384"/>
                  </a:lnTo>
                  <a:lnTo>
                    <a:pt x="3008490" y="4749"/>
                  </a:lnTo>
                  <a:lnTo>
                    <a:pt x="3009874" y="8128"/>
                  </a:lnTo>
                  <a:lnTo>
                    <a:pt x="3013252" y="9512"/>
                  </a:lnTo>
                  <a:lnTo>
                    <a:pt x="3016618" y="8128"/>
                  </a:lnTo>
                  <a:lnTo>
                    <a:pt x="3018002" y="4749"/>
                  </a:lnTo>
                  <a:close/>
                </a:path>
                <a:path w="5024120" h="9525">
                  <a:moveTo>
                    <a:pt x="4020832" y="4749"/>
                  </a:moveTo>
                  <a:lnTo>
                    <a:pt x="4019448" y="1384"/>
                  </a:lnTo>
                  <a:lnTo>
                    <a:pt x="4016083" y="0"/>
                  </a:lnTo>
                  <a:lnTo>
                    <a:pt x="4012704" y="1384"/>
                  </a:lnTo>
                  <a:lnTo>
                    <a:pt x="4011320" y="4749"/>
                  </a:lnTo>
                  <a:lnTo>
                    <a:pt x="4012704" y="8128"/>
                  </a:lnTo>
                  <a:lnTo>
                    <a:pt x="4016083" y="9512"/>
                  </a:lnTo>
                  <a:lnTo>
                    <a:pt x="4019448" y="8128"/>
                  </a:lnTo>
                  <a:lnTo>
                    <a:pt x="4020832" y="4749"/>
                  </a:lnTo>
                  <a:close/>
                </a:path>
                <a:path w="5024120" h="9525">
                  <a:moveTo>
                    <a:pt x="5023663" y="4749"/>
                  </a:moveTo>
                  <a:lnTo>
                    <a:pt x="5022278" y="1384"/>
                  </a:lnTo>
                  <a:lnTo>
                    <a:pt x="5018913" y="0"/>
                  </a:lnTo>
                  <a:lnTo>
                    <a:pt x="5015535" y="1384"/>
                  </a:lnTo>
                  <a:lnTo>
                    <a:pt x="5014150" y="4749"/>
                  </a:lnTo>
                  <a:lnTo>
                    <a:pt x="5015535" y="8128"/>
                  </a:lnTo>
                  <a:lnTo>
                    <a:pt x="5018913" y="9512"/>
                  </a:lnTo>
                  <a:lnTo>
                    <a:pt x="5022278" y="8128"/>
                  </a:lnTo>
                  <a:lnTo>
                    <a:pt x="5023663" y="474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696043" y="2351747"/>
            <a:ext cx="4088129" cy="2132965"/>
            <a:chOff x="1696043" y="2351747"/>
            <a:chExt cx="4088129" cy="2132965"/>
          </a:xfrm>
        </p:grpSpPr>
        <p:sp>
          <p:nvSpPr>
            <p:cNvPr id="7" name="object 7" descr=""/>
            <p:cNvSpPr/>
            <p:nvPr/>
          </p:nvSpPr>
          <p:spPr>
            <a:xfrm>
              <a:off x="1734262" y="2389962"/>
              <a:ext cx="4011929" cy="2056130"/>
            </a:xfrm>
            <a:custGeom>
              <a:avLst/>
              <a:gdLst/>
              <a:ahLst/>
              <a:cxnLst/>
              <a:rect l="l" t="t" r="r" b="b"/>
              <a:pathLst>
                <a:path w="4011929" h="2056129">
                  <a:moveTo>
                    <a:pt x="0" y="1078458"/>
                  </a:moveTo>
                  <a:lnTo>
                    <a:pt x="1002828" y="1763306"/>
                  </a:lnTo>
                </a:path>
                <a:path w="4011929" h="2056129">
                  <a:moveTo>
                    <a:pt x="1002828" y="1763306"/>
                  </a:moveTo>
                  <a:lnTo>
                    <a:pt x="2005658" y="860272"/>
                  </a:lnTo>
                </a:path>
                <a:path w="4011929" h="2056129">
                  <a:moveTo>
                    <a:pt x="2005658" y="860272"/>
                  </a:moveTo>
                  <a:lnTo>
                    <a:pt x="3008489" y="2056028"/>
                  </a:lnTo>
                </a:path>
                <a:path w="4011929" h="2056129">
                  <a:moveTo>
                    <a:pt x="3008489" y="2056028"/>
                  </a:moveTo>
                  <a:lnTo>
                    <a:pt x="4011319" y="0"/>
                  </a:lnTo>
                </a:path>
              </a:pathLst>
            </a:custGeom>
            <a:ln w="28575">
              <a:solidFill>
                <a:srgbClr val="145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6043" y="3430206"/>
              <a:ext cx="76439" cy="7644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8877" y="4115054"/>
              <a:ext cx="76428" cy="7642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1707" y="3212007"/>
              <a:ext cx="76428" cy="7644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4537" y="4407763"/>
              <a:ext cx="76428" cy="7644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7354" y="2351747"/>
              <a:ext cx="76441" cy="76441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594427" y="5825909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2016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597262" y="5825909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2017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600093" y="5825909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2018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602910" y="5825909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2019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605740" y="5825909"/>
            <a:ext cx="2800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2020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87412" y="5648845"/>
            <a:ext cx="24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4.48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50979" y="5017312"/>
            <a:ext cx="1847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Arial"/>
                <a:cs typeface="Arial"/>
              </a:rPr>
              <a:t>4.5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87412" y="4385767"/>
            <a:ext cx="24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4.52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87412" y="3754234"/>
            <a:ext cx="24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4.54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87412" y="3122688"/>
            <a:ext cx="24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4.56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87412" y="2491149"/>
            <a:ext cx="24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Arial"/>
                <a:cs typeface="Arial"/>
              </a:rPr>
              <a:t>4.58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50979" y="1859610"/>
            <a:ext cx="1847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Arial"/>
                <a:cs typeface="Arial"/>
              </a:rPr>
              <a:t>4.6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222389" y="1507553"/>
            <a:ext cx="2791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Average</a:t>
            </a:r>
            <a:r>
              <a:rPr dirty="0" sz="1400" spc="-2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Resolution</a:t>
            </a:r>
            <a:r>
              <a:rPr dirty="0" sz="1400" spc="-2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Time</a:t>
            </a:r>
            <a:r>
              <a:rPr dirty="0" sz="1400" spc="-2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85858"/>
                </a:solidFill>
                <a:latin typeface="Arial"/>
                <a:cs typeface="Arial"/>
              </a:rPr>
              <a:t>Vs</a:t>
            </a:r>
            <a:r>
              <a:rPr dirty="0" sz="1400" spc="-2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Arial"/>
                <a:cs typeface="Arial"/>
              </a:rPr>
              <a:t>Years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633184" y="1305699"/>
            <a:ext cx="487426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This</a:t>
            </a:r>
            <a:r>
              <a:rPr dirty="0" sz="1800" spc="3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chart</a:t>
            </a:r>
            <a:r>
              <a:rPr dirty="0" sz="1800" spc="3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shows</a:t>
            </a:r>
            <a:r>
              <a:rPr dirty="0" sz="1800" spc="39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3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average</a:t>
            </a:r>
            <a:r>
              <a:rPr dirty="0" sz="1800" spc="39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resolution</a:t>
            </a:r>
            <a:r>
              <a:rPr dirty="0" sz="1800" spc="39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time </a:t>
            </a:r>
            <a:r>
              <a:rPr dirty="0" sz="1800">
                <a:latin typeface="Arial"/>
                <a:cs typeface="Arial"/>
              </a:rPr>
              <a:t>over</a:t>
            </a:r>
            <a:r>
              <a:rPr dirty="0" sz="1800" spc="1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five</a:t>
            </a:r>
            <a:r>
              <a:rPr dirty="0" sz="1800" spc="1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years.</a:t>
            </a:r>
            <a:r>
              <a:rPr dirty="0" sz="1800" spc="2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1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trend</a:t>
            </a:r>
            <a:r>
              <a:rPr dirty="0" sz="1800" spc="2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remains</a:t>
            </a:r>
            <a:r>
              <a:rPr dirty="0" sz="1800" spc="15">
                <a:latin typeface="Arial"/>
                <a:cs typeface="Arial"/>
              </a:rPr>
              <a:t>  </a:t>
            </a:r>
            <a:r>
              <a:rPr dirty="0" sz="1800" spc="-10">
                <a:latin typeface="Arial"/>
                <a:cs typeface="Arial"/>
              </a:rPr>
              <a:t>relatively </a:t>
            </a:r>
            <a:r>
              <a:rPr dirty="0" sz="1800">
                <a:latin typeface="Arial"/>
                <a:cs typeface="Arial"/>
              </a:rPr>
              <a:t>stable,</a:t>
            </a:r>
            <a:r>
              <a:rPr dirty="0" sz="1800" spc="7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9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only</a:t>
            </a:r>
            <a:r>
              <a:rPr dirty="0" sz="1800" spc="9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minor</a:t>
            </a:r>
            <a:r>
              <a:rPr dirty="0" sz="1800" spc="9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fluctuations</a:t>
            </a:r>
            <a:r>
              <a:rPr dirty="0" sz="1800" spc="90">
                <a:latin typeface="Arial"/>
                <a:cs typeface="Arial"/>
              </a:rPr>
              <a:t>  </a:t>
            </a:r>
            <a:r>
              <a:rPr dirty="0" sz="1800" spc="-10">
                <a:latin typeface="Arial"/>
                <a:cs typeface="Arial"/>
              </a:rPr>
              <a:t>between </a:t>
            </a:r>
            <a:r>
              <a:rPr dirty="0" sz="1800">
                <a:latin typeface="Arial"/>
                <a:cs typeface="Arial"/>
              </a:rPr>
              <a:t>2016</a:t>
            </a:r>
            <a:r>
              <a:rPr dirty="0" sz="1800" spc="310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32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2020.</a:t>
            </a:r>
            <a:r>
              <a:rPr dirty="0" sz="1800" spc="32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Although</a:t>
            </a:r>
            <a:r>
              <a:rPr dirty="0" sz="1800" spc="325">
                <a:latin typeface="Arial"/>
                <a:cs typeface="Arial"/>
              </a:rPr>
              <a:t>  </a:t>
            </a:r>
            <a:r>
              <a:rPr dirty="0" sz="1800">
                <a:latin typeface="Arial"/>
                <a:cs typeface="Arial"/>
              </a:rPr>
              <a:t>resolution</a:t>
            </a:r>
            <a:r>
              <a:rPr dirty="0" sz="1800" spc="325">
                <a:latin typeface="Arial"/>
                <a:cs typeface="Arial"/>
              </a:rPr>
              <a:t>  </a:t>
            </a:r>
            <a:r>
              <a:rPr dirty="0" sz="1800" spc="-20">
                <a:latin typeface="Arial"/>
                <a:cs typeface="Arial"/>
              </a:rPr>
              <a:t>time </a:t>
            </a:r>
            <a:r>
              <a:rPr dirty="0" sz="1800">
                <a:latin typeface="Arial"/>
                <a:cs typeface="Arial"/>
              </a:rPr>
              <a:t>increased</a:t>
            </a:r>
            <a:r>
              <a:rPr dirty="0" sz="1800" spc="18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slightly</a:t>
            </a:r>
            <a:r>
              <a:rPr dirty="0" sz="1800" spc="18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18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2020,</a:t>
            </a:r>
            <a:r>
              <a:rPr dirty="0" sz="1800" spc="18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overall</a:t>
            </a:r>
            <a:r>
              <a:rPr dirty="0" sz="1800" spc="18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performance </a:t>
            </a:r>
            <a:r>
              <a:rPr dirty="0" sz="1800">
                <a:latin typeface="Arial"/>
                <a:cs typeface="Arial"/>
              </a:rPr>
              <a:t>has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been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consistent.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6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Slide</a:t>
            </a:r>
            <a:r>
              <a:rPr dirty="0" spc="-40"/>
              <a:t> </a:t>
            </a:r>
            <a:r>
              <a:rPr dirty="0"/>
              <a:t>9</a:t>
            </a:r>
            <a:r>
              <a:rPr dirty="0" spc="-40"/>
              <a:t> </a:t>
            </a:r>
            <a:r>
              <a:rPr dirty="0"/>
              <a:t>:Screen</a:t>
            </a:r>
            <a:r>
              <a:rPr dirty="0" spc="-35"/>
              <a:t> </a:t>
            </a:r>
            <a:r>
              <a:rPr dirty="0"/>
              <a:t>Shot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 spc="-10"/>
              <a:t>Dashboard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8" y="1109272"/>
            <a:ext cx="10389438" cy="47305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6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Slide</a:t>
            </a:r>
            <a:r>
              <a:rPr dirty="0" spc="-50"/>
              <a:t> </a:t>
            </a:r>
            <a:r>
              <a:rPr dirty="0"/>
              <a:t>10:</a:t>
            </a:r>
            <a:r>
              <a:rPr dirty="0" spc="-50"/>
              <a:t> </a:t>
            </a:r>
            <a:r>
              <a:rPr dirty="0" spc="-10"/>
              <a:t>Recommendation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808454"/>
            <a:ext cx="10013315" cy="27565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Char char="•"/>
              <a:tabLst>
                <a:tab pos="241300" algn="l"/>
              </a:tabLst>
            </a:pPr>
            <a:r>
              <a:rPr dirty="0" sz="2800">
                <a:latin typeface="Arial"/>
                <a:cs typeface="Arial"/>
              </a:rPr>
              <a:t>Based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on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analysis,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organization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should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focus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on </a:t>
            </a:r>
            <a:r>
              <a:rPr dirty="0" sz="2800">
                <a:latin typeface="Arial"/>
                <a:cs typeface="Arial"/>
              </a:rPr>
              <a:t>automating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high-</a:t>
            </a:r>
            <a:r>
              <a:rPr dirty="0" sz="2800">
                <a:latin typeface="Arial"/>
                <a:cs typeface="Arial"/>
              </a:rPr>
              <a:t>volume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request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categories,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improving </a:t>
            </a:r>
            <a:r>
              <a:rPr dirty="0" sz="2800">
                <a:latin typeface="Arial"/>
                <a:cs typeface="Arial"/>
              </a:rPr>
              <a:t>resolution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times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through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training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and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process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optimization, </a:t>
            </a:r>
            <a:r>
              <a:rPr dirty="0" sz="2800">
                <a:latin typeface="Arial"/>
                <a:cs typeface="Arial"/>
              </a:rPr>
              <a:t>allocating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resources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more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effectively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during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peak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periods,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and </a:t>
            </a:r>
            <a:r>
              <a:rPr dirty="0" sz="2800" spc="-10">
                <a:latin typeface="Arial"/>
                <a:cs typeface="Arial"/>
              </a:rPr>
              <a:t>strengthening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ticket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prioritization.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Continuous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monitoring </a:t>
            </a:r>
            <a:r>
              <a:rPr dirty="0" sz="2800">
                <a:latin typeface="Arial"/>
                <a:cs typeface="Arial"/>
              </a:rPr>
              <a:t>through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the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dashboard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will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help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management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make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informed </a:t>
            </a:r>
            <a:r>
              <a:rPr dirty="0" sz="2800">
                <a:latin typeface="Arial"/>
                <a:cs typeface="Arial"/>
              </a:rPr>
              <a:t>decisions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and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improve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overall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call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center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performance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6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Slide</a:t>
            </a:r>
            <a:r>
              <a:rPr dirty="0" spc="-50"/>
              <a:t> </a:t>
            </a:r>
            <a:r>
              <a:rPr dirty="0"/>
              <a:t>11:</a:t>
            </a:r>
            <a:r>
              <a:rPr dirty="0" spc="-50"/>
              <a:t> </a:t>
            </a: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09521" y="1189532"/>
            <a:ext cx="10328275" cy="40792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228600" indent="-228600">
              <a:lnSpc>
                <a:spcPct val="70000"/>
              </a:lnSpc>
              <a:spcBef>
                <a:spcPts val="820"/>
              </a:spcBef>
              <a:buChar char="•"/>
              <a:tabLst>
                <a:tab pos="228600" algn="l"/>
              </a:tabLst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analysis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97,498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IT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support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tickets</a:t>
            </a:r>
            <a:r>
              <a:rPr dirty="0" sz="2000" spc="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(2016–2020)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provided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valuable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insights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into</a:t>
            </a:r>
            <a:r>
              <a:rPr dirty="0" sz="2000" spc="2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call </a:t>
            </a:r>
            <a:r>
              <a:rPr dirty="0" sz="2000">
                <a:latin typeface="Arial"/>
                <a:cs typeface="Arial"/>
              </a:rPr>
              <a:t>center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performance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operational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efficiency.</a:t>
            </a:r>
            <a:endParaRPr sz="2000">
              <a:latin typeface="Arial"/>
              <a:cs typeface="Arial"/>
            </a:endParaRPr>
          </a:p>
          <a:p>
            <a:pPr marL="228600" indent="-228600">
              <a:lnSpc>
                <a:spcPct val="70000"/>
              </a:lnSpc>
              <a:spcBef>
                <a:spcPts val="1000"/>
              </a:spcBef>
              <a:buChar char="•"/>
              <a:tabLst>
                <a:tab pos="228600" algn="l"/>
                <a:tab pos="796925" algn="l"/>
                <a:tab pos="2084070" algn="l"/>
                <a:tab pos="3415029" algn="l"/>
                <a:tab pos="4913630" algn="l"/>
                <a:tab pos="6173470" algn="l"/>
                <a:tab pos="6699250" algn="l"/>
                <a:tab pos="7648575" algn="l"/>
                <a:tab pos="8315959" algn="l"/>
                <a:tab pos="8714740" algn="l"/>
                <a:tab pos="9438005" algn="l"/>
              </a:tabLst>
            </a:pPr>
            <a:r>
              <a:rPr dirty="0" sz="2000" spc="-25">
                <a:latin typeface="Arial"/>
                <a:cs typeface="Arial"/>
              </a:rPr>
              <a:t>The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interactive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dashboard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successfully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monitored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5">
                <a:latin typeface="Arial"/>
                <a:cs typeface="Arial"/>
              </a:rPr>
              <a:t>key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metrics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such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5">
                <a:latin typeface="Arial"/>
                <a:cs typeface="Arial"/>
              </a:rPr>
              <a:t>as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ticket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volume, </a:t>
            </a:r>
            <a:r>
              <a:rPr dirty="0" sz="2000">
                <a:latin typeface="Arial"/>
                <a:cs typeface="Arial"/>
              </a:rPr>
              <a:t>priority,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severity,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resolution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time,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customer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satisfaction..</a:t>
            </a:r>
            <a:endParaRPr sz="2000">
              <a:latin typeface="Arial"/>
              <a:cs typeface="Arial"/>
            </a:endParaRPr>
          </a:p>
          <a:p>
            <a:pPr marL="227965" indent="-227965">
              <a:lnSpc>
                <a:spcPts val="2039"/>
              </a:lnSpc>
              <a:spcBef>
                <a:spcPts val="280"/>
              </a:spcBef>
              <a:buChar char="•"/>
              <a:tabLst>
                <a:tab pos="227965" algn="l"/>
              </a:tabLst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findings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highlighted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opportunities</a:t>
            </a:r>
            <a:r>
              <a:rPr dirty="0" sz="2000" spc="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improve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service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quality</a:t>
            </a:r>
            <a:r>
              <a:rPr dirty="0" sz="2000" spc="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through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faster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resolution</a:t>
            </a:r>
            <a:endParaRPr sz="2000">
              <a:latin typeface="Arial"/>
              <a:cs typeface="Arial"/>
            </a:endParaRPr>
          </a:p>
          <a:p>
            <a:pPr marL="228600">
              <a:lnSpc>
                <a:spcPct val="70000"/>
              </a:lnSpc>
              <a:spcBef>
                <a:spcPts val="360"/>
              </a:spcBef>
            </a:pPr>
            <a:r>
              <a:rPr dirty="0" sz="2000">
                <a:latin typeface="Arial"/>
                <a:cs typeface="Arial"/>
              </a:rPr>
              <a:t>times,</a:t>
            </a:r>
            <a:r>
              <a:rPr dirty="0" sz="2000" spc="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better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ticket</a:t>
            </a:r>
            <a:r>
              <a:rPr dirty="0" sz="2000" spc="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prioritization,</a:t>
            </a:r>
            <a:r>
              <a:rPr dirty="0" sz="2000" spc="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balanced</a:t>
            </a:r>
            <a:r>
              <a:rPr dirty="0" sz="2000" spc="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workload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distribution,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automation</a:t>
            </a:r>
            <a:r>
              <a:rPr dirty="0" sz="2000" spc="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high- </a:t>
            </a:r>
            <a:r>
              <a:rPr dirty="0" sz="2000">
                <a:latin typeface="Arial"/>
                <a:cs typeface="Arial"/>
              </a:rPr>
              <a:t>volume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request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categories.</a:t>
            </a:r>
            <a:endParaRPr sz="2000">
              <a:latin typeface="Arial"/>
              <a:cs typeface="Arial"/>
            </a:endParaRPr>
          </a:p>
          <a:p>
            <a:pPr marL="227965" indent="-227965">
              <a:lnSpc>
                <a:spcPts val="2039"/>
              </a:lnSpc>
              <a:spcBef>
                <a:spcPts val="280"/>
              </a:spcBef>
              <a:buChar char="•"/>
              <a:tabLst>
                <a:tab pos="227965" algn="l"/>
              </a:tabLst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3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dashboard</a:t>
            </a:r>
            <a:r>
              <a:rPr dirty="0" sz="2000" spc="3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serves</a:t>
            </a:r>
            <a:r>
              <a:rPr dirty="0" sz="2000" spc="3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</a:t>
            </a:r>
            <a:r>
              <a:rPr dirty="0" sz="2000" spc="3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</a:t>
            </a:r>
            <a:r>
              <a:rPr dirty="0" sz="2000" spc="3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effective</a:t>
            </a:r>
            <a:r>
              <a:rPr dirty="0" sz="2000" spc="36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decision-</a:t>
            </a:r>
            <a:r>
              <a:rPr dirty="0" sz="2000">
                <a:latin typeface="Arial"/>
                <a:cs typeface="Arial"/>
              </a:rPr>
              <a:t>support</a:t>
            </a:r>
            <a:r>
              <a:rPr dirty="0" sz="2000" spc="3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tool,</a:t>
            </a:r>
            <a:r>
              <a:rPr dirty="0" sz="2000" spc="3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enabling</a:t>
            </a:r>
            <a:r>
              <a:rPr dirty="0" sz="2000" spc="3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management</a:t>
            </a:r>
            <a:r>
              <a:rPr dirty="0" sz="2000" spc="37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  <a:p>
            <a:pPr marL="228600">
              <a:lnSpc>
                <a:spcPct val="70000"/>
              </a:lnSpc>
              <a:spcBef>
                <a:spcPts val="360"/>
              </a:spcBef>
            </a:pPr>
            <a:r>
              <a:rPr dirty="0" sz="2000">
                <a:latin typeface="Arial"/>
                <a:cs typeface="Arial"/>
              </a:rPr>
              <a:t>make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data-</a:t>
            </a:r>
            <a:r>
              <a:rPr dirty="0" sz="2000">
                <a:latin typeface="Arial"/>
                <a:cs typeface="Arial"/>
              </a:rPr>
              <a:t>driven</a:t>
            </a:r>
            <a:r>
              <a:rPr dirty="0" sz="2000" spc="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investment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decisions</a:t>
            </a:r>
            <a:r>
              <a:rPr dirty="0" sz="2000" spc="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that</a:t>
            </a:r>
            <a:r>
              <a:rPr dirty="0" sz="2000" spc="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enhance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customer</a:t>
            </a:r>
            <a:r>
              <a:rPr dirty="0" sz="2000" spc="1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satisfaction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1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optimize </a:t>
            </a:r>
            <a:r>
              <a:rPr dirty="0" sz="2000">
                <a:latin typeface="Arial"/>
                <a:cs typeface="Arial"/>
              </a:rPr>
              <a:t>call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center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operations.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r>
              <a:rPr dirty="0" sz="2000" spc="-5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r>
              <a:rPr dirty="0" sz="2000">
                <a:latin typeface="Arial"/>
                <a:cs typeface="Arial"/>
              </a:rPr>
              <a:t>Final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Statement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2039"/>
              </a:lnSpc>
              <a:spcBef>
                <a:spcPts val="280"/>
              </a:spcBef>
              <a:tabLst>
                <a:tab pos="486409" algn="l"/>
                <a:tab pos="2087245" algn="l"/>
                <a:tab pos="2687320" algn="l"/>
                <a:tab pos="3469640" algn="l"/>
                <a:tab pos="4153535" algn="l"/>
                <a:tab pos="4753610" algn="l"/>
                <a:tab pos="6101080" algn="l"/>
                <a:tab pos="7221855" algn="l"/>
                <a:tab pos="7765415" algn="l"/>
                <a:tab pos="9156065" algn="l"/>
              </a:tabLst>
            </a:pPr>
            <a:r>
              <a:rPr dirty="0" sz="2000" spc="-25">
                <a:latin typeface="Arial"/>
                <a:cs typeface="Arial"/>
              </a:rPr>
              <a:t>By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transforming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5">
                <a:latin typeface="Arial"/>
                <a:cs typeface="Arial"/>
              </a:rPr>
              <a:t>raw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ticket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data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0">
                <a:latin typeface="Arial"/>
                <a:cs typeface="Arial"/>
              </a:rPr>
              <a:t>into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actionable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insights,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25">
                <a:latin typeface="Arial"/>
                <a:cs typeface="Arial"/>
              </a:rPr>
              <a:t>the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dashboard</a:t>
            </a:r>
            <a:r>
              <a:rPr dirty="0" sz="2000">
                <a:latin typeface="Arial"/>
                <a:cs typeface="Arial"/>
              </a:rPr>
              <a:t>	</a:t>
            </a:r>
            <a:r>
              <a:rPr dirty="0" sz="2000" spc="-10">
                <a:latin typeface="Arial"/>
                <a:cs typeface="Arial"/>
              </a:rPr>
              <a:t>empowers</a:t>
            </a:r>
            <a:endParaRPr sz="2000">
              <a:latin typeface="Arial"/>
              <a:cs typeface="Arial"/>
            </a:endParaRPr>
          </a:p>
          <a:p>
            <a:pPr marL="228600">
              <a:lnSpc>
                <a:spcPct val="70000"/>
              </a:lnSpc>
              <a:spcBef>
                <a:spcPts val="360"/>
              </a:spcBef>
            </a:pPr>
            <a:r>
              <a:rPr dirty="0" sz="2000">
                <a:latin typeface="Arial"/>
                <a:cs typeface="Arial"/>
              </a:rPr>
              <a:t>management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improve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operational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efficiency,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optimize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resource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allocation,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deliver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a </a:t>
            </a:r>
            <a:r>
              <a:rPr dirty="0" sz="2000">
                <a:latin typeface="Arial"/>
                <a:cs typeface="Arial"/>
              </a:rPr>
              <a:t>better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customer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support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experience.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2026-07-07T04:56:56Z</dcterms:created>
  <dcterms:modified xsi:type="dcterms:W3CDTF">2026-07-07T04:56:56Z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2026-07-07T00:00:00Z</vt:filetime>
  </property>
  <property fmtid="{D5CDD505-2E9C-101B-9397-08002B2CF9AE}" pid="3" name="LastSaved">
    <vt:filetime>2026-07-07T00:00:00Z</vt:filetime>
  </property>
  <property fmtid="{D5CDD505-2E9C-101B-9397-08002B2CF9AE}" pid="4" name="Producer">
    <vt:lpwstr>3-Heights(TM) PDF Security Shell 4.8.25.2 (http://www.pdf-tools.com)</vt:lpwstr>
  </property>
</Properties>
</file>